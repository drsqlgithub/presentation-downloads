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27"/>
  </p:notesMasterIdLst>
  <p:sldIdLst>
    <p:sldId id="256" r:id="rId3"/>
    <p:sldId id="264" r:id="rId4"/>
    <p:sldId id="262" r:id="rId5"/>
    <p:sldId id="540" r:id="rId6"/>
    <p:sldId id="257" r:id="rId7"/>
    <p:sldId id="621" r:id="rId8"/>
    <p:sldId id="611" r:id="rId9"/>
    <p:sldId id="619" r:id="rId10"/>
    <p:sldId id="545" r:id="rId11"/>
    <p:sldId id="263" r:id="rId12"/>
    <p:sldId id="613" r:id="rId13"/>
    <p:sldId id="267" r:id="rId14"/>
    <p:sldId id="266" r:id="rId15"/>
    <p:sldId id="615" r:id="rId16"/>
    <p:sldId id="265" r:id="rId17"/>
    <p:sldId id="618" r:id="rId18"/>
    <p:sldId id="620" r:id="rId19"/>
    <p:sldId id="614" r:id="rId20"/>
    <p:sldId id="268" r:id="rId21"/>
    <p:sldId id="612" r:id="rId22"/>
    <p:sldId id="616" r:id="rId23"/>
    <p:sldId id="617" r:id="rId24"/>
    <p:sldId id="513" r:id="rId25"/>
    <p:sldId id="51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D82340-7524-4094-993C-675222D88B53}" v="189" dt="2026-03-16T23:31:27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son, Louis" userId="1e9fb052-0758-4f58-97c2-53dae8166b4e" providerId="ADAL" clId="{C02D0E78-79A1-46E4-9F52-4179D9505664}"/>
    <pc:docChg chg="undo custSel modSld">
      <pc:chgData name="Davidson, Louis" userId="1e9fb052-0758-4f58-97c2-53dae8166b4e" providerId="ADAL" clId="{C02D0E78-79A1-46E4-9F52-4179D9505664}" dt="2026-03-16T23:31:27.797" v="332" actId="20577"/>
      <pc:docMkLst>
        <pc:docMk/>
      </pc:docMkLst>
      <pc:sldChg chg="modSp mod">
        <pc:chgData name="Davidson, Louis" userId="1e9fb052-0758-4f58-97c2-53dae8166b4e" providerId="ADAL" clId="{C02D0E78-79A1-46E4-9F52-4179D9505664}" dt="2026-02-26T00:58:22.193" v="34" actId="6549"/>
        <pc:sldMkLst>
          <pc:docMk/>
          <pc:sldMk cId="3013900184" sldId="256"/>
        </pc:sldMkLst>
        <pc:spChg chg="mod">
          <ac:chgData name="Davidson, Louis" userId="1e9fb052-0758-4f58-97c2-53dae8166b4e" providerId="ADAL" clId="{C02D0E78-79A1-46E4-9F52-4179D9505664}" dt="2026-02-26T00:58:22.193" v="34" actId="6549"/>
          <ac:spMkLst>
            <pc:docMk/>
            <pc:sldMk cId="3013900184" sldId="256"/>
            <ac:spMk id="2" creationId="{84713F96-10E6-7EA9-471D-D769A10B7E8F}"/>
          </ac:spMkLst>
        </pc:spChg>
      </pc:sldChg>
      <pc:sldChg chg="modSp mod modAnim">
        <pc:chgData name="Davidson, Louis" userId="1e9fb052-0758-4f58-97c2-53dae8166b4e" providerId="ADAL" clId="{C02D0E78-79A1-46E4-9F52-4179D9505664}" dt="2026-03-16T23:25:03.453" v="197" actId="20577"/>
        <pc:sldMkLst>
          <pc:docMk/>
          <pc:sldMk cId="2466170329" sldId="263"/>
        </pc:sldMkLst>
        <pc:spChg chg="mod">
          <ac:chgData name="Davidson, Louis" userId="1e9fb052-0758-4f58-97c2-53dae8166b4e" providerId="ADAL" clId="{C02D0E78-79A1-46E4-9F52-4179D9505664}" dt="2026-03-16T23:25:03.453" v="197" actId="20577"/>
          <ac:spMkLst>
            <pc:docMk/>
            <pc:sldMk cId="2466170329" sldId="263"/>
            <ac:spMk id="2" creationId="{75BAC107-78E7-1AD9-0D67-AA41202A8C37}"/>
          </ac:spMkLst>
        </pc:spChg>
        <pc:spChg chg="mod">
          <ac:chgData name="Davidson, Louis" userId="1e9fb052-0758-4f58-97c2-53dae8166b4e" providerId="ADAL" clId="{C02D0E78-79A1-46E4-9F52-4179D9505664}" dt="2026-03-16T23:23:39.977" v="159" actId="20577"/>
          <ac:spMkLst>
            <pc:docMk/>
            <pc:sldMk cId="2466170329" sldId="263"/>
            <ac:spMk id="3" creationId="{DE2DAA44-A15E-9869-C24E-EB7893C5651A}"/>
          </ac:spMkLst>
        </pc:spChg>
      </pc:sldChg>
      <pc:sldChg chg="modSp mod">
        <pc:chgData name="Davidson, Louis" userId="1e9fb052-0758-4f58-97c2-53dae8166b4e" providerId="ADAL" clId="{C02D0E78-79A1-46E4-9F52-4179D9505664}" dt="2026-03-16T23:18:05.719" v="132" actId="20577"/>
        <pc:sldMkLst>
          <pc:docMk/>
          <pc:sldMk cId="1009196265" sldId="264"/>
        </pc:sldMkLst>
        <pc:spChg chg="mod">
          <ac:chgData name="Davidson, Louis" userId="1e9fb052-0758-4f58-97c2-53dae8166b4e" providerId="ADAL" clId="{C02D0E78-79A1-46E4-9F52-4179D9505664}" dt="2026-03-16T23:18:05.719" v="132" actId="20577"/>
          <ac:spMkLst>
            <pc:docMk/>
            <pc:sldMk cId="1009196265" sldId="264"/>
            <ac:spMk id="3" creationId="{B9DEF34A-DA35-945D-F57F-285A0C8B56F0}"/>
          </ac:spMkLst>
        </pc:spChg>
      </pc:sldChg>
      <pc:sldChg chg="modSp">
        <pc:chgData name="Davidson, Louis" userId="1e9fb052-0758-4f58-97c2-53dae8166b4e" providerId="ADAL" clId="{C02D0E78-79A1-46E4-9F52-4179D9505664}" dt="2026-03-16T23:27:09.781" v="299" actId="20577"/>
        <pc:sldMkLst>
          <pc:docMk/>
          <pc:sldMk cId="3044535086" sldId="266"/>
        </pc:sldMkLst>
        <pc:spChg chg="mod">
          <ac:chgData name="Davidson, Louis" userId="1e9fb052-0758-4f58-97c2-53dae8166b4e" providerId="ADAL" clId="{C02D0E78-79A1-46E4-9F52-4179D9505664}" dt="2026-03-16T23:27:09.781" v="299" actId="20577"/>
          <ac:spMkLst>
            <pc:docMk/>
            <pc:sldMk cId="3044535086" sldId="266"/>
            <ac:spMk id="3" creationId="{216A38E6-3139-0CBB-A0D1-84017B724BC0}"/>
          </ac:spMkLst>
        </pc:spChg>
      </pc:sldChg>
      <pc:sldChg chg="modSp">
        <pc:chgData name="Davidson, Louis" userId="1e9fb052-0758-4f58-97c2-53dae8166b4e" providerId="ADAL" clId="{C02D0E78-79A1-46E4-9F52-4179D9505664}" dt="2026-03-16T23:26:58.486" v="288" actId="20577"/>
        <pc:sldMkLst>
          <pc:docMk/>
          <pc:sldMk cId="87735207" sldId="267"/>
        </pc:sldMkLst>
        <pc:spChg chg="mod">
          <ac:chgData name="Davidson, Louis" userId="1e9fb052-0758-4f58-97c2-53dae8166b4e" providerId="ADAL" clId="{C02D0E78-79A1-46E4-9F52-4179D9505664}" dt="2026-03-16T23:26:58.486" v="288" actId="20577"/>
          <ac:spMkLst>
            <pc:docMk/>
            <pc:sldMk cId="87735207" sldId="267"/>
            <ac:spMk id="3" creationId="{0C402EF1-A632-922D-0F70-BCC152B7CF65}"/>
          </ac:spMkLst>
        </pc:spChg>
      </pc:sldChg>
      <pc:sldChg chg="addSp delSp modSp mod">
        <pc:chgData name="Davidson, Louis" userId="1e9fb052-0758-4f58-97c2-53dae8166b4e" providerId="ADAL" clId="{C02D0E78-79A1-46E4-9F52-4179D9505664}" dt="2026-02-15T20:01:43.345" v="4" actId="1076"/>
        <pc:sldMkLst>
          <pc:docMk/>
          <pc:sldMk cId="2469829145" sldId="513"/>
        </pc:sldMkLst>
        <pc:picChg chg="add mod">
          <ac:chgData name="Davidson, Louis" userId="1e9fb052-0758-4f58-97c2-53dae8166b4e" providerId="ADAL" clId="{C02D0E78-79A1-46E4-9F52-4179D9505664}" dt="2026-02-15T20:01:43.345" v="4" actId="1076"/>
          <ac:picMkLst>
            <pc:docMk/>
            <pc:sldMk cId="2469829145" sldId="513"/>
            <ac:picMk id="3" creationId="{78CAD375-C7B1-E8DA-A791-3BD8A8AB2460}"/>
          </ac:picMkLst>
        </pc:picChg>
      </pc:sldChg>
      <pc:sldChg chg="addSp delSp modSp mod">
        <pc:chgData name="Davidson, Louis" userId="1e9fb052-0758-4f58-97c2-53dae8166b4e" providerId="ADAL" clId="{C02D0E78-79A1-46E4-9F52-4179D9505664}" dt="2026-02-15T20:04:03.987" v="16" actId="20577"/>
        <pc:sldMkLst>
          <pc:docMk/>
          <pc:sldMk cId="4193144053" sldId="515"/>
        </pc:sldMkLst>
        <pc:spChg chg="mod">
          <ac:chgData name="Davidson, Louis" userId="1e9fb052-0758-4f58-97c2-53dae8166b4e" providerId="ADAL" clId="{C02D0E78-79A1-46E4-9F52-4179D9505664}" dt="2026-02-15T20:04:03.987" v="16" actId="20577"/>
          <ac:spMkLst>
            <pc:docMk/>
            <pc:sldMk cId="4193144053" sldId="515"/>
            <ac:spMk id="6" creationId="{1D689838-DAD4-7A9C-52CC-8E732A3123F7}"/>
          </ac:spMkLst>
        </pc:spChg>
        <pc:picChg chg="add mod">
          <ac:chgData name="Davidson, Louis" userId="1e9fb052-0758-4f58-97c2-53dae8166b4e" providerId="ADAL" clId="{C02D0E78-79A1-46E4-9F52-4179D9505664}" dt="2026-02-15T20:03:59.816" v="9" actId="1076"/>
          <ac:picMkLst>
            <pc:docMk/>
            <pc:sldMk cId="4193144053" sldId="515"/>
            <ac:picMk id="2050" creationId="{E68676A4-094A-4D83-CB1F-6970C964AB4A}"/>
          </ac:picMkLst>
        </pc:picChg>
      </pc:sldChg>
      <pc:sldChg chg="addSp delSp modSp mod setBg modAnim">
        <pc:chgData name="Davidson, Louis" userId="1e9fb052-0758-4f58-97c2-53dae8166b4e" providerId="ADAL" clId="{C02D0E78-79A1-46E4-9F52-4179D9505664}" dt="2026-03-16T23:18:45.792" v="140" actId="20577"/>
        <pc:sldMkLst>
          <pc:docMk/>
          <pc:sldMk cId="929612929" sldId="540"/>
        </pc:sldMkLst>
        <pc:spChg chg="mo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" creationId="{00000000-0000-0000-0000-000000000000}"/>
          </ac:spMkLst>
        </pc:spChg>
        <pc:spChg chg="mod ord">
          <ac:chgData name="Davidson, Louis" userId="1e9fb052-0758-4f58-97c2-53dae8166b4e" providerId="ADAL" clId="{C02D0E78-79A1-46E4-9F52-4179D9505664}" dt="2026-03-16T23:18:45.792" v="140" actId="20577"/>
          <ac:spMkLst>
            <pc:docMk/>
            <pc:sldMk cId="929612929" sldId="540"/>
            <ac:spMk id="3" creationId="{00000000-0000-0000-0000-000000000000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7" creationId="{11D64472-9720-4FBC-B628-F62EE9D0158A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29" creationId="{DF7BD5AB-415F-42D4-8FC0-DCC5D1101D85}"/>
          </ac:spMkLst>
        </pc:spChg>
        <pc:spChg chg="add">
          <ac:chgData name="Davidson, Louis" userId="1e9fb052-0758-4f58-97c2-53dae8166b4e" providerId="ADAL" clId="{C02D0E78-79A1-46E4-9F52-4179D9505664}" dt="2026-02-26T00:59:15.888" v="130" actId="26606"/>
          <ac:spMkLst>
            <pc:docMk/>
            <pc:sldMk cId="929612929" sldId="540"/>
            <ac:spMk id="30" creationId="{2A8EBF22-DAF1-4100-AA4A-A077B68E3AB8}"/>
          </ac:spMkLst>
        </pc:spChg>
        <pc:picChg chg="mod">
          <ac:chgData name="Davidson, Louis" userId="1e9fb052-0758-4f58-97c2-53dae8166b4e" providerId="ADAL" clId="{C02D0E78-79A1-46E4-9F52-4179D9505664}" dt="2026-02-26T00:59:15.888" v="130" actId="26606"/>
          <ac:picMkLst>
            <pc:docMk/>
            <pc:sldMk cId="929612929" sldId="540"/>
            <ac:picMk id="7" creationId="{54851473-A269-1E6C-53A7-F41E1F79E846}"/>
          </ac:picMkLst>
        </pc:picChg>
        <pc:cxnChg chg="add">
          <ac:chgData name="Davidson, Louis" userId="1e9fb052-0758-4f58-97c2-53dae8166b4e" providerId="ADAL" clId="{C02D0E78-79A1-46E4-9F52-4179D9505664}" dt="2026-02-26T00:59:15.888" v="130" actId="26606"/>
          <ac:cxnSpMkLst>
            <pc:docMk/>
            <pc:sldMk cId="929612929" sldId="540"/>
            <ac:cxnSpMk id="28" creationId="{C8274B1F-2E6E-4044-94F7-2AB4E90F65D4}"/>
          </ac:cxnSpMkLst>
        </pc:cxnChg>
      </pc:sldChg>
      <pc:sldChg chg="modSp">
        <pc:chgData name="Davidson, Louis" userId="1e9fb052-0758-4f58-97c2-53dae8166b4e" providerId="ADAL" clId="{C02D0E78-79A1-46E4-9F52-4179D9505664}" dt="2026-03-16T23:24:53.525" v="184" actId="20577"/>
        <pc:sldMkLst>
          <pc:docMk/>
          <pc:sldMk cId="2540003470" sldId="613"/>
        </pc:sldMkLst>
        <pc:spChg chg="mod">
          <ac:chgData name="Davidson, Louis" userId="1e9fb052-0758-4f58-97c2-53dae8166b4e" providerId="ADAL" clId="{C02D0E78-79A1-46E4-9F52-4179D9505664}" dt="2026-03-16T23:24:53.525" v="184" actId="20577"/>
          <ac:spMkLst>
            <pc:docMk/>
            <pc:sldMk cId="2540003470" sldId="613"/>
            <ac:spMk id="3" creationId="{7AA1921E-4908-AD45-D17D-DD2797FAFD4D}"/>
          </ac:spMkLst>
        </pc:spChg>
      </pc:sldChg>
      <pc:sldChg chg="modSp">
        <pc:chgData name="Davidson, Louis" userId="1e9fb052-0758-4f58-97c2-53dae8166b4e" providerId="ADAL" clId="{C02D0E78-79A1-46E4-9F52-4179D9505664}" dt="2026-03-16T23:31:27.797" v="332" actId="20577"/>
        <pc:sldMkLst>
          <pc:docMk/>
          <pc:sldMk cId="3770607672" sldId="614"/>
        </pc:sldMkLst>
        <pc:spChg chg="mod">
          <ac:chgData name="Davidson, Louis" userId="1e9fb052-0758-4f58-97c2-53dae8166b4e" providerId="ADAL" clId="{C02D0E78-79A1-46E4-9F52-4179D9505664}" dt="2026-03-16T23:31:27.797" v="332" actId="20577"/>
          <ac:spMkLst>
            <pc:docMk/>
            <pc:sldMk cId="3770607672" sldId="614"/>
            <ac:spMk id="3" creationId="{D817AB63-91E5-D627-4A14-7DFE66600984}"/>
          </ac:spMkLst>
        </pc:spChg>
      </pc:sldChg>
      <pc:sldChg chg="modSp modAnim">
        <pc:chgData name="Davidson, Louis" userId="1e9fb052-0758-4f58-97c2-53dae8166b4e" providerId="ADAL" clId="{C02D0E78-79A1-46E4-9F52-4179D9505664}" dt="2026-03-16T23:28:40.003" v="317" actId="403"/>
        <pc:sldMkLst>
          <pc:docMk/>
          <pc:sldMk cId="3883035879" sldId="615"/>
        </pc:sldMkLst>
        <pc:spChg chg="mod">
          <ac:chgData name="Davidson, Louis" userId="1e9fb052-0758-4f58-97c2-53dae8166b4e" providerId="ADAL" clId="{C02D0E78-79A1-46E4-9F52-4179D9505664}" dt="2026-03-16T23:28:40.003" v="317" actId="403"/>
          <ac:spMkLst>
            <pc:docMk/>
            <pc:sldMk cId="3883035879" sldId="615"/>
            <ac:spMk id="3" creationId="{75D1C6F7-4818-6125-06D0-4A3584EA4483}"/>
          </ac:spMkLst>
        </pc:spChg>
      </pc:sldChg>
      <pc:sldChg chg="addSp modSp mod setBg">
        <pc:chgData name="Davidson, Louis" userId="1e9fb052-0758-4f58-97c2-53dae8166b4e" providerId="ADAL" clId="{C02D0E78-79A1-46E4-9F52-4179D9505664}" dt="2026-02-26T00:59:24.227" v="131" actId="26606"/>
        <pc:sldMkLst>
          <pc:docMk/>
          <pc:sldMk cId="3789927490" sldId="619"/>
        </pc:sldMkLst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2" creationId="{805052DB-6D1C-251D-E1E6-349CA50F5D3E}"/>
          </ac:spMkLst>
        </pc:spChg>
        <pc:spChg chg="mo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3" creationId="{7023FE88-97DB-AC47-6068-8EF63FA5BEE9}"/>
          </ac:spMkLst>
        </pc:spChg>
        <pc:spChg chg="add">
          <ac:chgData name="Davidson, Louis" userId="1e9fb052-0758-4f58-97c2-53dae8166b4e" providerId="ADAL" clId="{C02D0E78-79A1-46E4-9F52-4179D9505664}" dt="2026-02-26T00:59:24.227" v="131" actId="26606"/>
          <ac:spMkLst>
            <pc:docMk/>
            <pc:sldMk cId="3789927490" sldId="619"/>
            <ac:spMk id="9" creationId="{990D0034-F768-41E7-85D4-F38C4DE85770}"/>
          </ac:spMkLst>
        </pc:spChg>
        <pc:picChg chg="add">
          <ac:chgData name="Davidson, Louis" userId="1e9fb052-0758-4f58-97c2-53dae8166b4e" providerId="ADAL" clId="{C02D0E78-79A1-46E4-9F52-4179D9505664}" dt="2026-02-26T00:59:24.227" v="131" actId="26606"/>
          <ac:picMkLst>
            <pc:docMk/>
            <pc:sldMk cId="3789927490" sldId="619"/>
            <ac:picMk id="5" creationId="{9F776DE8-7CB2-4D90-977B-58788B20B570}"/>
          </ac:picMkLst>
        </pc:picChg>
        <pc:cxnChg chg="add">
          <ac:chgData name="Davidson, Louis" userId="1e9fb052-0758-4f58-97c2-53dae8166b4e" providerId="ADAL" clId="{C02D0E78-79A1-46E4-9F52-4179D9505664}" dt="2026-02-26T00:59:24.227" v="131" actId="26606"/>
          <ac:cxnSpMkLst>
            <pc:docMk/>
            <pc:sldMk cId="3789927490" sldId="619"/>
            <ac:cxnSpMk id="11" creationId="{5A0A5CF6-407C-4691-8122-49DF69D0020D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edin.com/in/louisdavidson" TargetMode="External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drsql.lin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x.com/drsql" TargetMode="External"/><Relationship Id="rId5" Type="http://schemas.openxmlformats.org/officeDocument/2006/relationships/hyperlink" Target="https://drsql.org/presentations" TargetMode="External"/><Relationship Id="rId4" Type="http://schemas.openxmlformats.org/officeDocument/2006/relationships/hyperlink" Target="http://drsql.org" TargetMode="External"/><Relationship Id="rId9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rsql.link/presentations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/>
              <a:t>Dimensional and Relational Design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 dirty="0">
                <a:solidFill>
                  <a:schemeClr val="bg1"/>
                </a:solidFill>
              </a:rPr>
              <a:t>on’t interact, I will start daydreaming about going back home to work and I don’t want to think about that yet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1D64472-9720-4FBC-B628-F62EE9D01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en-US"/>
              <a:t>Who Am 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697" y="645106"/>
            <a:ext cx="3804616" cy="5247747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274B1F-2E6E-4044-94F7-2AB4E90F6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>
            <a:normAutofit/>
          </a:bodyPr>
          <a:lstStyle/>
          <a:p>
            <a:r>
              <a:rPr lang="en-US" sz="1300" b="1" dirty="0"/>
              <a:t>Database programmer/architect &gt; 30 years</a:t>
            </a:r>
          </a:p>
          <a:p>
            <a:r>
              <a:rPr lang="en-US" sz="1300" b="1" dirty="0"/>
              <a:t>Former Microsoft MVP (19 Times)</a:t>
            </a:r>
          </a:p>
          <a:p>
            <a:r>
              <a:rPr lang="en-US" sz="1300" b="1" dirty="0"/>
              <a:t>Written 6 books on database design</a:t>
            </a:r>
          </a:p>
          <a:p>
            <a:pPr lvl="1"/>
            <a:r>
              <a:rPr lang="en-US" sz="1300" dirty="0"/>
              <a:t>They were technically all versions of the same book.  </a:t>
            </a:r>
          </a:p>
          <a:p>
            <a:pPr lvl="1"/>
            <a:r>
              <a:rPr lang="en-US" sz="1300" dirty="0"/>
              <a:t>They at least had slightly different titles each time</a:t>
            </a:r>
          </a:p>
          <a:p>
            <a:pPr lvl="1"/>
            <a:r>
              <a:rPr lang="en-US" sz="1300" dirty="0"/>
              <a:t>Seventh Edition? Who knows?</a:t>
            </a:r>
          </a:p>
          <a:p>
            <a:r>
              <a:rPr lang="en-US" sz="1300" b="1" dirty="0"/>
              <a:t>Super Brief Contact Info: DRSQL</a:t>
            </a:r>
          </a:p>
          <a:p>
            <a:pPr lvl="1"/>
            <a:r>
              <a:rPr lang="en-US" sz="1300" dirty="0"/>
              <a:t>Twitter</a:t>
            </a:r>
          </a:p>
          <a:p>
            <a:pPr lvl="1"/>
            <a:r>
              <a:rPr lang="en-US" sz="1300" dirty="0"/>
              <a:t>Website/blog (.org) </a:t>
            </a:r>
          </a:p>
          <a:p>
            <a:pPr lvl="1"/>
            <a:r>
              <a:rPr lang="en-US" sz="1300" dirty="0"/>
              <a:t>Email (@hotmail.com)</a:t>
            </a:r>
          </a:p>
          <a:p>
            <a:pPr lvl="1"/>
            <a:r>
              <a:rPr lang="en-US" sz="1300" dirty="0"/>
              <a:t>LinkedIn (actually that handle is </a:t>
            </a:r>
            <a:r>
              <a:rPr lang="en-US" sz="1300" dirty="0" err="1"/>
              <a:t>LouisDavidson</a:t>
            </a:r>
            <a:r>
              <a:rPr lang="en-US" sz="1300" dirty="0"/>
              <a:t>, but you can search for </a:t>
            </a:r>
            <a:r>
              <a:rPr lang="en-US" sz="1300" dirty="0" err="1"/>
              <a:t>drsql</a:t>
            </a:r>
            <a:r>
              <a:rPr lang="en-US" sz="1300" dirty="0"/>
              <a:t>)</a:t>
            </a:r>
          </a:p>
          <a:p>
            <a:endParaRPr lang="en-US" sz="1300" dirty="0"/>
          </a:p>
          <a:p>
            <a:endParaRPr lang="en-US" sz="1300" dirty="0"/>
          </a:p>
          <a:p>
            <a:endParaRPr lang="en-US" sz="13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7BD5AB-415F-42D4-8FC0-DCC5D1101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EBF22-DAF1-4100-AA4A-A077B68E3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/>
          <a:lstStyle/>
          <a:p>
            <a:r>
              <a:rPr lang="en-US"/>
              <a:t>My non-tech hobby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111" y="1364384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94242A-DE02-AF42-5ADB-C2FF2730A9A7}"/>
              </a:ext>
            </a:extLst>
          </p:cNvPr>
          <p:cNvSpPr txBox="1"/>
          <p:nvPr/>
        </p:nvSpPr>
        <p:spPr>
          <a:xfrm>
            <a:off x="3883437" y="6253656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@disneypicaday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0C77A-7EFC-2747-6A15-EDBB7CB237D3}"/>
              </a:ext>
            </a:extLst>
          </p:cNvPr>
          <p:cNvSpPr txBox="1"/>
          <p:nvPr/>
        </p:nvSpPr>
        <p:spPr>
          <a:xfrm>
            <a:off x="186126" y="3407125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@dollywoodp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9B267-7304-F5D4-908A-F7365A6DE930}"/>
              </a:ext>
            </a:extLst>
          </p:cNvPr>
          <p:cNvSpPr txBox="1"/>
          <p:nvPr/>
        </p:nvSpPr>
        <p:spPr>
          <a:xfrm>
            <a:off x="8350264" y="1399153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Instagram: @figmentsintime</a:t>
            </a:r>
          </a:p>
        </p:txBody>
      </p:sp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5"/>
            <a:ext cx="3100136" cy="2103875"/>
          </a:xfrm>
        </p:spPr>
        <p:txBody>
          <a:bodyPr>
            <a:normAutofit/>
          </a:bodyPr>
          <a:lstStyle/>
          <a:p>
            <a:r>
              <a:rPr lang="en-US" sz="3600" b="1"/>
              <a:t>My professional background</a:t>
            </a:r>
            <a:endParaRPr lang="en-US" sz="36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74320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736574"/>
            <a:ext cx="3084844" cy="3366047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/>
              <a:t>Over 30 years as a little bit of a:</a:t>
            </a:r>
          </a:p>
          <a:p>
            <a:pPr marL="383540" lvl="1"/>
            <a:r>
              <a:rPr lang="en-US" sz="1500"/>
              <a:t>DBA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Transact SQL Programmer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Data Architect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ETL Developer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1500"/>
              <a:t>Writer/blogger/speaker/learner about these topics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Written several books on Relational Database Design (Last time I will mention this...most likely)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1500"/>
              <a:t>Went to a few of the Kimball Group’s Classes</a:t>
            </a:r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50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5" name="Picture 4" descr="Books stacked on a table">
            <a:extLst>
              <a:ext uri="{FF2B5EF4-FFF2-40B4-BE49-F238E27FC236}">
                <a16:creationId xmlns:a16="http://schemas.microsoft.com/office/drawing/2014/main" id="{9F776DE8-7CB2-4D90-977B-58788B20B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19" r="9532" b="-1"/>
          <a:stretch>
            <a:fillRect/>
          </a:stretch>
        </p:blipFill>
        <p:spPr>
          <a:xfrm>
            <a:off x="4075043" y="10"/>
            <a:ext cx="811127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Similarities Between Dimensional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 dirty="0"/>
              <a:t>Both are</a:t>
            </a:r>
            <a:r>
              <a:rPr lang="en-US" sz="1600" b="1" baseline="0" dirty="0"/>
              <a:t> data stored to be used</a:t>
            </a:r>
          </a:p>
          <a:p>
            <a:pPr lvl="1"/>
            <a:r>
              <a:rPr lang="en-US" sz="1600" baseline="0" dirty="0"/>
              <a:t>Often using the same data storage technologies</a:t>
            </a:r>
          </a:p>
          <a:p>
            <a:r>
              <a:rPr lang="en-US" sz="1600" b="1" baseline="0" dirty="0"/>
              <a:t>Both typically focus on table structures </a:t>
            </a:r>
          </a:p>
          <a:p>
            <a:pPr lvl="1"/>
            <a:r>
              <a:rPr lang="en-US" sz="1600" dirty="0"/>
              <a:t>Rows, Columns with Scalar Values</a:t>
            </a:r>
          </a:p>
          <a:p>
            <a:r>
              <a:rPr lang="en-US" sz="1600" b="1" dirty="0"/>
              <a:t>Some of the core skills involved </a:t>
            </a:r>
          </a:p>
          <a:p>
            <a:pPr lvl="1"/>
            <a:r>
              <a:rPr lang="en-US" sz="1600" dirty="0"/>
              <a:t>Relational Database Engines (Or something that behaves similarly)</a:t>
            </a:r>
          </a:p>
          <a:p>
            <a:pPr lvl="1"/>
            <a:r>
              <a:rPr lang="en-US" sz="1600" baseline="0" dirty="0"/>
              <a:t>SQL</a:t>
            </a:r>
          </a:p>
          <a:p>
            <a:r>
              <a:rPr lang="en-US" sz="1600" b="1" dirty="0"/>
              <a:t>Most important similarity</a:t>
            </a:r>
          </a:p>
          <a:p>
            <a:pPr lvl="1"/>
            <a:r>
              <a:rPr lang="en-US" sz="1600" dirty="0"/>
              <a:t>Organizations rely on data from relational and business intelligence systems to make important decisions</a:t>
            </a:r>
          </a:p>
          <a:p>
            <a:pPr lvl="1"/>
            <a:r>
              <a:rPr lang="en-US" sz="1600" dirty="0"/>
              <a:t>Data Quality is </a:t>
            </a:r>
            <a:r>
              <a:rPr lang="en-US" sz="1600" b="1" dirty="0"/>
              <a:t>ESSENTIAL</a:t>
            </a:r>
          </a:p>
          <a:p>
            <a:r>
              <a:rPr lang="en-US" sz="1800" b="1" dirty="0"/>
              <a:t>AI??</a:t>
            </a:r>
            <a:endParaRPr lang="en-US" sz="1800" dirty="0"/>
          </a:p>
          <a:p>
            <a:r>
              <a:rPr lang="en-US" sz="1600" b="1" i="1" dirty="0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 dirty="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 dirty="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Dimensional – Analysis through time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 dirty="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 dirty="0"/>
              <a:t>Relational: Live, frequently modified data</a:t>
            </a:r>
          </a:p>
          <a:p>
            <a:pPr lvl="1"/>
            <a:r>
              <a:rPr lang="en-US" sz="2000" dirty="0"/>
              <a:t>Generally, we keep all states/actions/</a:t>
            </a:r>
            <a:r>
              <a:rPr lang="en-US" sz="2000" dirty="0" err="1"/>
              <a:t>etc</a:t>
            </a:r>
            <a:r>
              <a:rPr lang="en-US" sz="2000" dirty="0"/>
              <a:t> that have occurred</a:t>
            </a:r>
          </a:p>
          <a:p>
            <a:pPr lvl="1"/>
            <a:r>
              <a:rPr lang="en-US" sz="2000" dirty="0"/>
              <a:t>With at least the data you need to serve users and keep work going</a:t>
            </a:r>
          </a:p>
          <a:p>
            <a:pPr lvl="1"/>
            <a:r>
              <a:rPr lang="en-US" sz="2000" dirty="0"/>
              <a:t>May even be the legal documentation for actions (which can change retention rules)</a:t>
            </a:r>
          </a:p>
          <a:p>
            <a:r>
              <a:rPr lang="en-US" sz="2200" b="1" dirty="0"/>
              <a:t>Dimensional: Typically a set of copies starting with relational (and other data)</a:t>
            </a:r>
          </a:p>
          <a:p>
            <a:pPr lvl="1"/>
            <a:r>
              <a:rPr lang="en-US" sz="2000" dirty="0"/>
              <a:t>Kimball had a </a:t>
            </a:r>
            <a:r>
              <a:rPr lang="en-US" sz="2000" dirty="0">
                <a:hlinkClick r:id="rId2"/>
              </a:rPr>
              <a:t>metaphor of a kitchen</a:t>
            </a:r>
            <a:r>
              <a:rPr lang="en-US" sz="2000" dirty="0"/>
              <a:t> with 3 areas:</a:t>
            </a:r>
          </a:p>
          <a:p>
            <a:pPr lvl="3"/>
            <a:r>
              <a:rPr lang="en-US" sz="2000" b="1" dirty="0"/>
              <a:t>Prep area</a:t>
            </a:r>
            <a:r>
              <a:rPr lang="en-US" sz="2000" dirty="0"/>
              <a:t>: no user access, but all the data you need to serve anyone</a:t>
            </a:r>
          </a:p>
          <a:p>
            <a:pPr lvl="3"/>
            <a:r>
              <a:rPr lang="en-US" sz="2000" b="1" dirty="0"/>
              <a:t>Chef table</a:t>
            </a:r>
            <a:r>
              <a:rPr lang="en-US" sz="2000" dirty="0"/>
              <a:t>: cleaned data, likely formatted. Some users get access, but it is a special, power user access only</a:t>
            </a:r>
          </a:p>
          <a:p>
            <a:pPr lvl="3"/>
            <a:r>
              <a:rPr lang="en-US" sz="2000" b="1" dirty="0"/>
              <a:t>Dining Room</a:t>
            </a:r>
            <a:r>
              <a:rPr lang="en-US" sz="2000" dirty="0"/>
              <a:t>: where data is served to the guests in the way they need it</a:t>
            </a:r>
          </a:p>
          <a:p>
            <a:pPr lvl="1"/>
            <a:r>
              <a:rPr lang="en-US" sz="2000" dirty="0"/>
              <a:t>Fabric has the </a:t>
            </a:r>
            <a:r>
              <a:rPr lang="en-US" sz="2000" dirty="0">
                <a:hlinkClick r:id="rId3"/>
              </a:rPr>
              <a:t>Medallion architecture</a:t>
            </a:r>
            <a:endParaRPr lang="en-US" sz="2000" dirty="0"/>
          </a:p>
          <a:p>
            <a:pPr lvl="1"/>
            <a:r>
              <a:rPr lang="en-US" sz="2000" dirty="0"/>
              <a:t>Biggest thing is you keep copies of ALL the data the user may WANT to access.</a:t>
            </a:r>
          </a:p>
          <a:p>
            <a:pPr lvl="2"/>
            <a:endParaRPr lang="en-US" sz="2000" dirty="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 dirty="0"/>
              <a:t>Relational: </a:t>
            </a:r>
          </a:p>
          <a:p>
            <a:pPr lvl="1"/>
            <a:r>
              <a:rPr lang="en-US" dirty="0"/>
              <a:t>Things that exist</a:t>
            </a:r>
          </a:p>
          <a:p>
            <a:pPr lvl="1"/>
            <a:r>
              <a:rPr lang="en-US" dirty="0"/>
              <a:t>Basically store the memory of a something or some process</a:t>
            </a:r>
          </a:p>
          <a:p>
            <a:pPr lvl="1"/>
            <a:r>
              <a:rPr lang="en-US" dirty="0"/>
              <a:t>Goal is to match the design exactly to the customer’s real world</a:t>
            </a:r>
          </a:p>
          <a:p>
            <a:pPr lvl="1"/>
            <a:r>
              <a:rPr lang="en-US" dirty="0"/>
              <a:t>Can be very complex, if the customer’s needs are complex</a:t>
            </a:r>
          </a:p>
          <a:p>
            <a:pPr lvl="1"/>
            <a:r>
              <a:rPr lang="en-US" dirty="0"/>
              <a:t>Eliminate duplication to enhance integrity</a:t>
            </a:r>
          </a:p>
          <a:p>
            <a:r>
              <a:rPr lang="en-US" b="1" dirty="0"/>
              <a:t>Dimensional</a:t>
            </a:r>
          </a:p>
          <a:p>
            <a:pPr lvl="1"/>
            <a:r>
              <a:rPr lang="en-US" dirty="0"/>
              <a:t>Actions you want to quantify </a:t>
            </a:r>
          </a:p>
          <a:p>
            <a:pPr lvl="1"/>
            <a:r>
              <a:rPr lang="en-US" dirty="0"/>
              <a:t>Goal is to be able to answer the customer’s questions</a:t>
            </a:r>
          </a:p>
          <a:p>
            <a:pPr lvl="1"/>
            <a:r>
              <a:rPr lang="en-US" dirty="0"/>
              <a:t>Tuning your design to their needs is not simple</a:t>
            </a:r>
          </a:p>
          <a:p>
            <a:pPr lvl="1"/>
            <a:r>
              <a:rPr lang="en-US" dirty="0"/>
              <a:t>Allow duplication to enhance usability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Relational</a:t>
            </a:r>
            <a:endParaRPr lang="en-US" b="1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Based on Normalized Structures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Eliminates redundancies at all levels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Optimized for adding, modifying, and deleting data </a:t>
            </a:r>
            <a:r>
              <a:rPr lang="en-US" u="sng" dirty="0"/>
              <a:t>consistently</a:t>
            </a:r>
            <a:endParaRPr lang="en-US" u="sng" dirty="0">
              <a:ea typeface="Calibri"/>
              <a:cs typeface="Calibri"/>
            </a:endParaRPr>
          </a:p>
          <a:p>
            <a:pPr marL="383540" lvl="1"/>
            <a:r>
              <a:rPr lang="en-US" dirty="0"/>
              <a:t>Tables represent individual concepts (nouns) and relationships between them</a:t>
            </a:r>
            <a:endParaRPr lang="en-US" dirty="0">
              <a:ea typeface="Calibri"/>
              <a:cs typeface="Calibri"/>
            </a:endParaRPr>
          </a:p>
          <a:p>
            <a:pPr marL="90932"/>
            <a:r>
              <a:rPr lang="en-US" b="1" dirty="0"/>
              <a:t>Dimensional Modeling</a:t>
            </a:r>
            <a:endParaRPr lang="en-US" sz="2400" b="1" dirty="0"/>
          </a:p>
          <a:p>
            <a:pPr marL="383540" lvl="1"/>
            <a:r>
              <a:rPr lang="en-US" sz="2000" dirty="0"/>
              <a:t>Star Schema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Fact table: Basically a single answer to one or more core questions about an action (grain)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Measures: Numeric details you can aggregate on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Dimensions: Factors you can group the answers on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Dimension Tables: Tables for more complex dimensions</a:t>
            </a:r>
            <a:endParaRPr lang="en-US" sz="2000" dirty="0">
              <a:ea typeface="Calibri"/>
              <a:cs typeface="Calibri"/>
            </a:endParaRPr>
          </a:p>
          <a:p>
            <a:pPr marL="566420" lvl="2"/>
            <a:r>
              <a:rPr lang="en-US" sz="1600" dirty="0"/>
              <a:t>Snowflake Schema</a:t>
            </a:r>
            <a:endParaRPr lang="en-US" sz="1600" dirty="0">
              <a:ea typeface="Calibri"/>
              <a:cs typeface="Calibri"/>
            </a:endParaRPr>
          </a:p>
          <a:p>
            <a:pPr marL="749300" lvl="3"/>
            <a:r>
              <a:rPr lang="en-US" sz="1600" dirty="0"/>
              <a:t>Star Schema with some normalization in the dimensions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  <a:p>
            <a:pPr marL="383540" lvl="1"/>
            <a:endParaRPr lang="en-US" sz="1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 dirty="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Dimensional: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that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Louis Davidson – </a:t>
            </a:r>
            <a:r>
              <a:rPr lang="en-US" b="1" dirty="0">
                <a:hlinkClick r:id="rId3"/>
              </a:rPr>
              <a:t>louis@drsql.org</a:t>
            </a:r>
            <a:r>
              <a:rPr lang="en-US" b="1" dirty="0"/>
              <a:t>	</a:t>
            </a:r>
          </a:p>
          <a:p>
            <a:r>
              <a:rPr lang="en-US" b="1" dirty="0"/>
              <a:t>Website – </a:t>
            </a:r>
            <a:r>
              <a:rPr lang="en-US" b="1" dirty="0">
                <a:hlinkClick r:id="rId4"/>
              </a:rPr>
              <a:t>http://drsql.org</a:t>
            </a:r>
            <a:r>
              <a:rPr lang="en-US" b="1" dirty="0"/>
              <a:t> </a:t>
            </a:r>
          </a:p>
          <a:p>
            <a:pPr lvl="1"/>
            <a:r>
              <a:rPr lang="en-US" b="1" dirty="0">
                <a:sym typeface="Wingdings" pitchFamily="2" charset="2"/>
              </a:rPr>
              <a:t>Get slides here: </a:t>
            </a:r>
            <a:r>
              <a:rPr lang="en-US" b="1" dirty="0">
                <a:sym typeface="Wingdings" pitchFamily="2" charset="2"/>
                <a:hlinkClick r:id="rId5"/>
              </a:rPr>
              <a:t>https://drsql.org/presentations</a:t>
            </a:r>
            <a:r>
              <a:rPr lang="en-US" b="1" dirty="0">
                <a:sym typeface="Wingdings" pitchFamily="2" charset="2"/>
              </a:rPr>
              <a:t> </a:t>
            </a:r>
            <a:endParaRPr lang="en-US" b="1" dirty="0"/>
          </a:p>
          <a:p>
            <a:r>
              <a:rPr lang="en-US" b="1" dirty="0"/>
              <a:t>Twitter – </a:t>
            </a:r>
            <a:r>
              <a:rPr lang="en-US" b="1" dirty="0">
                <a:hlinkClick r:id="rId6"/>
              </a:rPr>
              <a:t>http://x.com/drsql</a:t>
            </a:r>
            <a:r>
              <a:rPr lang="en-US" b="1" dirty="0"/>
              <a:t> </a:t>
            </a:r>
          </a:p>
          <a:p>
            <a:r>
              <a:rPr lang="en-US" b="1" dirty="0"/>
              <a:t>Blog – </a:t>
            </a:r>
            <a:r>
              <a:rPr lang="en-US" b="1" dirty="0">
                <a:hlinkClick r:id="rId7"/>
              </a:rPr>
              <a:t>https://drsql.link</a:t>
            </a:r>
            <a:r>
              <a:rPr lang="en-US" b="1" dirty="0"/>
              <a:t> </a:t>
            </a:r>
          </a:p>
          <a:p>
            <a:r>
              <a:rPr lang="en-US" b="1" dirty="0"/>
              <a:t>LinkedIn – </a:t>
            </a:r>
            <a:r>
              <a:rPr lang="en-US" b="1" dirty="0">
                <a:hlinkClick r:id="rId8"/>
              </a:rPr>
              <a:t>https://linkedin.com/in/louisdavidson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620001" y="3740416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Generated QR Image">
            <a:extLst>
              <a:ext uri="{FF2B5EF4-FFF2-40B4-BE49-F238E27FC236}">
                <a16:creationId xmlns:a16="http://schemas.microsoft.com/office/drawing/2014/main" id="{78CAD375-C7B1-E8DA-A791-3BD8A8AB2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0632" y="2672557"/>
            <a:ext cx="2724150" cy="272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ym typeface="Wingdings" pitchFamily="2" charset="2"/>
                <a:hlinkClick r:id="rId2"/>
              </a:rPr>
              <a:t>https://drsql.link/presentations</a:t>
            </a:r>
            <a:r>
              <a:rPr lang="en-US" dirty="0">
                <a:sym typeface="Wingdings" pitchFamily="2" charset="2"/>
              </a:rPr>
              <a:t> </a:t>
            </a:r>
            <a:endParaRPr lang="en-US" dirty="0"/>
          </a:p>
        </p:txBody>
      </p:sp>
      <p:pic>
        <p:nvPicPr>
          <p:cNvPr id="2050" name="Picture 2" descr="Generated QR Image">
            <a:extLst>
              <a:ext uri="{FF2B5EF4-FFF2-40B4-BE49-F238E27FC236}">
                <a16:creationId xmlns:a16="http://schemas.microsoft.com/office/drawing/2014/main" id="{E68676A4-094A-4D83-CB1F-6970C964A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6257" y="1511904"/>
            <a:ext cx="2702719" cy="270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</TotalTime>
  <Words>1221</Words>
  <Application>Microsoft Office PowerPoint</Application>
  <PresentationFormat>Widescreen</PresentationFormat>
  <Paragraphs>176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Calibri Light</vt:lpstr>
      <vt:lpstr>Wingdings</vt:lpstr>
      <vt:lpstr>Retrospect</vt:lpstr>
      <vt:lpstr>Office Theme</vt:lpstr>
      <vt:lpstr>Dimensional and Relational Design</vt:lpstr>
      <vt:lpstr>Bit of a warning…</vt:lpstr>
      <vt:lpstr>And now… on with the show!</vt:lpstr>
      <vt:lpstr>Who Am I?</vt:lpstr>
      <vt:lpstr>My background</vt:lpstr>
      <vt:lpstr>PowerPoint Presentation</vt:lpstr>
      <vt:lpstr>My non-tech hobby</vt:lpstr>
      <vt:lpstr>My professional background</vt:lpstr>
      <vt:lpstr>Why do we build databases to start with?</vt:lpstr>
      <vt:lpstr>Similarities Between Dimensional and Relational</vt:lpstr>
      <vt:lpstr>Difference: Purpose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lastModifiedBy>Davidson, Louis</cp:lastModifiedBy>
  <cp:revision>41</cp:revision>
  <dcterms:created xsi:type="dcterms:W3CDTF">2025-02-08T22:44:31Z</dcterms:created>
  <dcterms:modified xsi:type="dcterms:W3CDTF">2026-03-16T23:31:32Z</dcterms:modified>
</cp:coreProperties>
</file>