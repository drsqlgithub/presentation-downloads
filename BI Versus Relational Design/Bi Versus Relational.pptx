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28"/>
  </p:notesMasterIdLst>
  <p:sldIdLst>
    <p:sldId id="256" r:id="rId3"/>
    <p:sldId id="264" r:id="rId4"/>
    <p:sldId id="262" r:id="rId5"/>
    <p:sldId id="540" r:id="rId6"/>
    <p:sldId id="257" r:id="rId7"/>
    <p:sldId id="621" r:id="rId8"/>
    <p:sldId id="611" r:id="rId9"/>
    <p:sldId id="619" r:id="rId10"/>
    <p:sldId id="545" r:id="rId11"/>
    <p:sldId id="263" r:id="rId12"/>
    <p:sldId id="613" r:id="rId13"/>
    <p:sldId id="626" r:id="rId14"/>
    <p:sldId id="267" r:id="rId15"/>
    <p:sldId id="266" r:id="rId16"/>
    <p:sldId id="615" r:id="rId17"/>
    <p:sldId id="265" r:id="rId18"/>
    <p:sldId id="618" r:id="rId19"/>
    <p:sldId id="620" r:id="rId20"/>
    <p:sldId id="614" r:id="rId21"/>
    <p:sldId id="268" r:id="rId22"/>
    <p:sldId id="612" r:id="rId23"/>
    <p:sldId id="616" r:id="rId24"/>
    <p:sldId id="617" r:id="rId25"/>
    <p:sldId id="513" r:id="rId26"/>
    <p:sldId id="51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26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C2821A-7275-4E75-9C4F-FF3EB3EFCB63}" type="doc">
      <dgm:prSet loTypeId="urn:microsoft.com/office/officeart/2005/8/layout/default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8A229B-6E55-4B25-8887-5FB59199E8C8}">
      <dgm:prSet/>
      <dgm:spPr/>
      <dgm:t>
        <a:bodyPr/>
        <a:lstStyle/>
        <a:p>
          <a:r>
            <a:rPr lang="en-US" dirty="0"/>
            <a:t>Simple databases designed for special reasons’</a:t>
          </a:r>
        </a:p>
      </dgm:t>
    </dgm:pt>
    <dgm:pt modelId="{9BC7F62C-932B-43B5-9F0D-3A1CA288EF88}" type="parTrans" cxnId="{C2DD7641-281D-46AA-8EB5-2ADD94F42534}">
      <dgm:prSet/>
      <dgm:spPr/>
      <dgm:t>
        <a:bodyPr/>
        <a:lstStyle/>
        <a:p>
          <a:endParaRPr lang="en-US"/>
        </a:p>
      </dgm:t>
    </dgm:pt>
    <dgm:pt modelId="{DF98CF18-1394-43C7-9920-A06FF0366D6B}" type="sibTrans" cxnId="{C2DD7641-281D-46AA-8EB5-2ADD94F42534}">
      <dgm:prSet/>
      <dgm:spPr/>
      <dgm:t>
        <a:bodyPr/>
        <a:lstStyle/>
        <a:p>
          <a:endParaRPr lang="en-US"/>
        </a:p>
      </dgm:t>
    </dgm:pt>
    <dgm:pt modelId="{DDB9BF62-587E-43A8-BA9E-69731DDB6DE9}">
      <dgm:prSet/>
      <dgm:spPr/>
      <dgm:t>
        <a:bodyPr/>
        <a:lstStyle/>
        <a:p>
          <a:r>
            <a:rPr lang="en-US" dirty="0"/>
            <a:t>Databases built with no design in mind</a:t>
          </a:r>
        </a:p>
      </dgm:t>
    </dgm:pt>
    <dgm:pt modelId="{F349A802-C92C-4618-931A-582894DC017C}" type="parTrans" cxnId="{4A258513-2D72-46CC-A189-69E40B15EBD8}">
      <dgm:prSet/>
      <dgm:spPr/>
      <dgm:t>
        <a:bodyPr/>
        <a:lstStyle/>
        <a:p>
          <a:endParaRPr lang="en-US"/>
        </a:p>
      </dgm:t>
    </dgm:pt>
    <dgm:pt modelId="{F5536C45-ADA7-495B-A464-3A6AA4224916}" type="sibTrans" cxnId="{4A258513-2D72-46CC-A189-69E40B15EBD8}">
      <dgm:prSet/>
      <dgm:spPr/>
      <dgm:t>
        <a:bodyPr/>
        <a:lstStyle/>
        <a:p>
          <a:endParaRPr lang="en-US"/>
        </a:p>
      </dgm:t>
    </dgm:pt>
    <dgm:pt modelId="{50DB99BC-75FF-408D-9425-83A33ADC43B7}">
      <dgm:prSet/>
      <dgm:spPr/>
      <dgm:t>
        <a:bodyPr/>
        <a:lstStyle/>
        <a:p>
          <a:r>
            <a:rPr lang="en-US" dirty="0"/>
            <a:t>NoSQL databases</a:t>
          </a:r>
        </a:p>
      </dgm:t>
    </dgm:pt>
    <dgm:pt modelId="{61EFDD3D-5004-437D-9DC7-A04EBCC2A2BC}" type="parTrans" cxnId="{BDEB7397-E956-4AD8-885E-8C0E31ECC933}">
      <dgm:prSet/>
      <dgm:spPr/>
      <dgm:t>
        <a:bodyPr/>
        <a:lstStyle/>
        <a:p>
          <a:endParaRPr lang="en-US"/>
        </a:p>
      </dgm:t>
    </dgm:pt>
    <dgm:pt modelId="{418891A9-1F7A-4F6A-B38E-57CE27D47984}" type="sibTrans" cxnId="{BDEB7397-E956-4AD8-885E-8C0E31ECC933}">
      <dgm:prSet/>
      <dgm:spPr/>
      <dgm:t>
        <a:bodyPr/>
        <a:lstStyle/>
        <a:p>
          <a:endParaRPr lang="en-US"/>
        </a:p>
      </dgm:t>
    </dgm:pt>
    <dgm:pt modelId="{B1A1B51B-EA03-42AD-A339-7AC2A1F65DA7}">
      <dgm:prSet/>
      <dgm:spPr/>
      <dgm:t>
        <a:bodyPr/>
        <a:lstStyle/>
        <a:p>
          <a:r>
            <a:rPr lang="en-US" dirty="0" err="1"/>
            <a:t>Etc</a:t>
          </a:r>
          <a:r>
            <a:rPr lang="en-US" dirty="0"/>
            <a:t>, </a:t>
          </a:r>
          <a:r>
            <a:rPr lang="en-US" dirty="0" err="1"/>
            <a:t>etc</a:t>
          </a:r>
          <a:r>
            <a:rPr lang="en-US" dirty="0"/>
            <a:t>, </a:t>
          </a:r>
          <a:r>
            <a:rPr lang="en-US" dirty="0" err="1"/>
            <a:t>etc</a:t>
          </a:r>
          <a:endParaRPr lang="en-US" dirty="0"/>
        </a:p>
      </dgm:t>
    </dgm:pt>
    <dgm:pt modelId="{928DBB15-F282-49D6-9CAF-F1BDD4177E2A}" type="parTrans" cxnId="{3FD28E19-CA38-442F-89FA-8BC42F216662}">
      <dgm:prSet/>
      <dgm:spPr/>
      <dgm:t>
        <a:bodyPr/>
        <a:lstStyle/>
        <a:p>
          <a:endParaRPr lang="en-US"/>
        </a:p>
      </dgm:t>
    </dgm:pt>
    <dgm:pt modelId="{3A1156C1-7049-45A8-91B3-CE5D94CBB964}" type="sibTrans" cxnId="{3FD28E19-CA38-442F-89FA-8BC42F216662}">
      <dgm:prSet/>
      <dgm:spPr/>
      <dgm:t>
        <a:bodyPr/>
        <a:lstStyle/>
        <a:p>
          <a:endParaRPr lang="en-US"/>
        </a:p>
      </dgm:t>
    </dgm:pt>
    <dgm:pt modelId="{62F8C1C4-0867-4A32-9326-E937A1372412}">
      <dgm:prSet phldrT="[Text]"/>
      <dgm:spPr/>
      <dgm:t>
        <a:bodyPr/>
        <a:lstStyle/>
        <a:p>
          <a:r>
            <a:rPr lang="en-US" dirty="0"/>
            <a:t>Processes to move data back and forth between the “primary” version of these</a:t>
          </a:r>
        </a:p>
      </dgm:t>
    </dgm:pt>
    <dgm:pt modelId="{7B47C307-FB34-4D1A-83AA-5A17BC0798E6}" type="sibTrans" cxnId="{2A07069D-F7C2-4C8F-A92F-8A49B1E2A3EA}">
      <dgm:prSet/>
      <dgm:spPr/>
      <dgm:t>
        <a:bodyPr/>
        <a:lstStyle/>
        <a:p>
          <a:endParaRPr lang="en-US"/>
        </a:p>
      </dgm:t>
    </dgm:pt>
    <dgm:pt modelId="{16F014AE-0FB5-4513-8575-30CC06B6ECBF}" type="parTrans" cxnId="{2A07069D-F7C2-4C8F-A92F-8A49B1E2A3EA}">
      <dgm:prSet/>
      <dgm:spPr/>
      <dgm:t>
        <a:bodyPr/>
        <a:lstStyle/>
        <a:p>
          <a:endParaRPr lang="en-US"/>
        </a:p>
      </dgm:t>
    </dgm:pt>
    <dgm:pt modelId="{B2B5FDD2-07B0-40D7-8756-8818F0E7E7AA}">
      <dgm:prSet/>
      <dgm:spPr/>
      <dgm:t>
        <a:bodyPr/>
        <a:lstStyle/>
        <a:p>
          <a:r>
            <a:rPr lang="en-US"/>
            <a:t>Applications</a:t>
          </a:r>
          <a:endParaRPr lang="en-US" dirty="0"/>
        </a:p>
      </dgm:t>
    </dgm:pt>
    <dgm:pt modelId="{E69F051E-BA38-4A73-B6A7-95A30E3EEFC1}" type="parTrans" cxnId="{98269A40-8D63-470C-AA19-5EF66409480A}">
      <dgm:prSet/>
      <dgm:spPr/>
      <dgm:t>
        <a:bodyPr/>
        <a:lstStyle/>
        <a:p>
          <a:endParaRPr lang="en-US"/>
        </a:p>
      </dgm:t>
    </dgm:pt>
    <dgm:pt modelId="{0325873A-682D-4DBD-A972-4F220BDE99D0}" type="sibTrans" cxnId="{98269A40-8D63-470C-AA19-5EF66409480A}">
      <dgm:prSet/>
      <dgm:spPr/>
      <dgm:t>
        <a:bodyPr/>
        <a:lstStyle/>
        <a:p>
          <a:endParaRPr lang="en-US"/>
        </a:p>
      </dgm:t>
    </dgm:pt>
    <dgm:pt modelId="{E5153257-96C0-4FE1-9110-8874E007A795}" type="pres">
      <dgm:prSet presAssocID="{DAC2821A-7275-4E75-9C4F-FF3EB3EFCB63}" presName="diagram" presStyleCnt="0">
        <dgm:presLayoutVars>
          <dgm:dir/>
          <dgm:resizeHandles val="exact"/>
        </dgm:presLayoutVars>
      </dgm:prSet>
      <dgm:spPr/>
    </dgm:pt>
    <dgm:pt modelId="{07865469-18EE-4CA9-9C3D-A97587602F8A}" type="pres">
      <dgm:prSet presAssocID="{62F8C1C4-0867-4A32-9326-E937A1372412}" presName="node" presStyleLbl="node1" presStyleIdx="0" presStyleCnt="6">
        <dgm:presLayoutVars>
          <dgm:bulletEnabled val="1"/>
        </dgm:presLayoutVars>
      </dgm:prSet>
      <dgm:spPr/>
    </dgm:pt>
    <dgm:pt modelId="{9C992ADE-98AE-49AD-A163-1C358E47701E}" type="pres">
      <dgm:prSet presAssocID="{7B47C307-FB34-4D1A-83AA-5A17BC0798E6}" presName="sibTrans" presStyleCnt="0"/>
      <dgm:spPr/>
    </dgm:pt>
    <dgm:pt modelId="{A9C9996B-B3A8-470E-A3CA-A4992276E3F9}" type="pres">
      <dgm:prSet presAssocID="{C78A229B-6E55-4B25-8887-5FB59199E8C8}" presName="node" presStyleLbl="node1" presStyleIdx="1" presStyleCnt="6">
        <dgm:presLayoutVars>
          <dgm:bulletEnabled val="1"/>
        </dgm:presLayoutVars>
      </dgm:prSet>
      <dgm:spPr/>
    </dgm:pt>
    <dgm:pt modelId="{9385C4C0-C543-4A35-A408-81AB9B5FF68E}" type="pres">
      <dgm:prSet presAssocID="{DF98CF18-1394-43C7-9920-A06FF0366D6B}" presName="sibTrans" presStyleCnt="0"/>
      <dgm:spPr/>
    </dgm:pt>
    <dgm:pt modelId="{4B1179C3-BA41-4FDF-A00D-8F6FF7A75FE8}" type="pres">
      <dgm:prSet presAssocID="{DDB9BF62-587E-43A8-BA9E-69731DDB6DE9}" presName="node" presStyleLbl="node1" presStyleIdx="2" presStyleCnt="6">
        <dgm:presLayoutVars>
          <dgm:bulletEnabled val="1"/>
        </dgm:presLayoutVars>
      </dgm:prSet>
      <dgm:spPr/>
    </dgm:pt>
    <dgm:pt modelId="{0DAFE3FF-45AE-42C4-8340-54082A4B324A}" type="pres">
      <dgm:prSet presAssocID="{F5536C45-ADA7-495B-A464-3A6AA4224916}" presName="sibTrans" presStyleCnt="0"/>
      <dgm:spPr/>
    </dgm:pt>
    <dgm:pt modelId="{E15A3A01-0761-4BA4-9ECB-0CE14D4C8FA6}" type="pres">
      <dgm:prSet presAssocID="{50DB99BC-75FF-408D-9425-83A33ADC43B7}" presName="node" presStyleLbl="node1" presStyleIdx="3" presStyleCnt="6">
        <dgm:presLayoutVars>
          <dgm:bulletEnabled val="1"/>
        </dgm:presLayoutVars>
      </dgm:prSet>
      <dgm:spPr/>
    </dgm:pt>
    <dgm:pt modelId="{022CEBC0-05BD-425E-8ABB-A839B374FE31}" type="pres">
      <dgm:prSet presAssocID="{418891A9-1F7A-4F6A-B38E-57CE27D47984}" presName="sibTrans" presStyleCnt="0"/>
      <dgm:spPr/>
    </dgm:pt>
    <dgm:pt modelId="{39B48CD2-7D7F-4A84-A14E-9F1F5914184E}" type="pres">
      <dgm:prSet presAssocID="{B2B5FDD2-07B0-40D7-8756-8818F0E7E7AA}" presName="node" presStyleLbl="node1" presStyleIdx="4" presStyleCnt="6">
        <dgm:presLayoutVars>
          <dgm:bulletEnabled val="1"/>
        </dgm:presLayoutVars>
      </dgm:prSet>
      <dgm:spPr/>
    </dgm:pt>
    <dgm:pt modelId="{2A1EC577-C3EA-4916-BA4D-1EDC5F47E751}" type="pres">
      <dgm:prSet presAssocID="{0325873A-682D-4DBD-A972-4F220BDE99D0}" presName="sibTrans" presStyleCnt="0"/>
      <dgm:spPr/>
    </dgm:pt>
    <dgm:pt modelId="{9784F67C-6E94-4F01-8139-2B60AB596557}" type="pres">
      <dgm:prSet presAssocID="{B1A1B51B-EA03-42AD-A339-7AC2A1F65DA7}" presName="node" presStyleLbl="node1" presStyleIdx="5" presStyleCnt="6">
        <dgm:presLayoutVars>
          <dgm:bulletEnabled val="1"/>
        </dgm:presLayoutVars>
      </dgm:prSet>
      <dgm:spPr/>
    </dgm:pt>
  </dgm:ptLst>
  <dgm:cxnLst>
    <dgm:cxn modelId="{55115A01-4FDB-4C73-BC0B-ADC65942F5AA}" type="presOf" srcId="{DDB9BF62-587E-43A8-BA9E-69731DDB6DE9}" destId="{4B1179C3-BA41-4FDF-A00D-8F6FF7A75FE8}" srcOrd="0" destOrd="0" presId="urn:microsoft.com/office/officeart/2005/8/layout/default"/>
    <dgm:cxn modelId="{4A258513-2D72-46CC-A189-69E40B15EBD8}" srcId="{DAC2821A-7275-4E75-9C4F-FF3EB3EFCB63}" destId="{DDB9BF62-587E-43A8-BA9E-69731DDB6DE9}" srcOrd="2" destOrd="0" parTransId="{F349A802-C92C-4618-931A-582894DC017C}" sibTransId="{F5536C45-ADA7-495B-A464-3A6AA4224916}"/>
    <dgm:cxn modelId="{8DA9F117-1FF8-448A-B5D3-F08E456D5DC0}" type="presOf" srcId="{62F8C1C4-0867-4A32-9326-E937A1372412}" destId="{07865469-18EE-4CA9-9C3D-A97587602F8A}" srcOrd="0" destOrd="0" presId="urn:microsoft.com/office/officeart/2005/8/layout/default"/>
    <dgm:cxn modelId="{3FD28E19-CA38-442F-89FA-8BC42F216662}" srcId="{DAC2821A-7275-4E75-9C4F-FF3EB3EFCB63}" destId="{B1A1B51B-EA03-42AD-A339-7AC2A1F65DA7}" srcOrd="5" destOrd="0" parTransId="{928DBB15-F282-49D6-9CAF-F1BDD4177E2A}" sibTransId="{3A1156C1-7049-45A8-91B3-CE5D94CBB964}"/>
    <dgm:cxn modelId="{98269A40-8D63-470C-AA19-5EF66409480A}" srcId="{DAC2821A-7275-4E75-9C4F-FF3EB3EFCB63}" destId="{B2B5FDD2-07B0-40D7-8756-8818F0E7E7AA}" srcOrd="4" destOrd="0" parTransId="{E69F051E-BA38-4A73-B6A7-95A30E3EEFC1}" sibTransId="{0325873A-682D-4DBD-A972-4F220BDE99D0}"/>
    <dgm:cxn modelId="{C2DD7641-281D-46AA-8EB5-2ADD94F42534}" srcId="{DAC2821A-7275-4E75-9C4F-FF3EB3EFCB63}" destId="{C78A229B-6E55-4B25-8887-5FB59199E8C8}" srcOrd="1" destOrd="0" parTransId="{9BC7F62C-932B-43B5-9F0D-3A1CA288EF88}" sibTransId="{DF98CF18-1394-43C7-9920-A06FF0366D6B}"/>
    <dgm:cxn modelId="{86A2E267-7F8B-449E-81C3-D91629ACF493}" type="presOf" srcId="{DAC2821A-7275-4E75-9C4F-FF3EB3EFCB63}" destId="{E5153257-96C0-4FE1-9110-8874E007A795}" srcOrd="0" destOrd="0" presId="urn:microsoft.com/office/officeart/2005/8/layout/default"/>
    <dgm:cxn modelId="{A8E58355-B7D6-422D-9261-A5F2F3E549E9}" type="presOf" srcId="{B2B5FDD2-07B0-40D7-8756-8818F0E7E7AA}" destId="{39B48CD2-7D7F-4A84-A14E-9F1F5914184E}" srcOrd="0" destOrd="0" presId="urn:microsoft.com/office/officeart/2005/8/layout/default"/>
    <dgm:cxn modelId="{BDEB7397-E956-4AD8-885E-8C0E31ECC933}" srcId="{DAC2821A-7275-4E75-9C4F-FF3EB3EFCB63}" destId="{50DB99BC-75FF-408D-9425-83A33ADC43B7}" srcOrd="3" destOrd="0" parTransId="{61EFDD3D-5004-437D-9DC7-A04EBCC2A2BC}" sibTransId="{418891A9-1F7A-4F6A-B38E-57CE27D47984}"/>
    <dgm:cxn modelId="{B60CB99B-5D18-4153-938E-ABD4F514D680}" type="presOf" srcId="{50DB99BC-75FF-408D-9425-83A33ADC43B7}" destId="{E15A3A01-0761-4BA4-9ECB-0CE14D4C8FA6}" srcOrd="0" destOrd="0" presId="urn:microsoft.com/office/officeart/2005/8/layout/default"/>
    <dgm:cxn modelId="{2A07069D-F7C2-4C8F-A92F-8A49B1E2A3EA}" srcId="{DAC2821A-7275-4E75-9C4F-FF3EB3EFCB63}" destId="{62F8C1C4-0867-4A32-9326-E937A1372412}" srcOrd="0" destOrd="0" parTransId="{16F014AE-0FB5-4513-8575-30CC06B6ECBF}" sibTransId="{7B47C307-FB34-4D1A-83AA-5A17BC0798E6}"/>
    <dgm:cxn modelId="{23D1F4BC-AA6C-4E21-AD9D-FEBB146B4538}" type="presOf" srcId="{C78A229B-6E55-4B25-8887-5FB59199E8C8}" destId="{A9C9996B-B3A8-470E-A3CA-A4992276E3F9}" srcOrd="0" destOrd="0" presId="urn:microsoft.com/office/officeart/2005/8/layout/default"/>
    <dgm:cxn modelId="{D2A5EFBD-0C85-4434-98D3-4A8563A8D8E6}" type="presOf" srcId="{B1A1B51B-EA03-42AD-A339-7AC2A1F65DA7}" destId="{9784F67C-6E94-4F01-8139-2B60AB596557}" srcOrd="0" destOrd="0" presId="urn:microsoft.com/office/officeart/2005/8/layout/default"/>
    <dgm:cxn modelId="{651A845D-017F-4301-AC77-7032548154C2}" type="presParOf" srcId="{E5153257-96C0-4FE1-9110-8874E007A795}" destId="{07865469-18EE-4CA9-9C3D-A97587602F8A}" srcOrd="0" destOrd="0" presId="urn:microsoft.com/office/officeart/2005/8/layout/default"/>
    <dgm:cxn modelId="{C9108F42-FA19-4E54-B366-7E9BAD945057}" type="presParOf" srcId="{E5153257-96C0-4FE1-9110-8874E007A795}" destId="{9C992ADE-98AE-49AD-A163-1C358E47701E}" srcOrd="1" destOrd="0" presId="urn:microsoft.com/office/officeart/2005/8/layout/default"/>
    <dgm:cxn modelId="{46E32897-7E04-4AAD-9A79-BD961738509F}" type="presParOf" srcId="{E5153257-96C0-4FE1-9110-8874E007A795}" destId="{A9C9996B-B3A8-470E-A3CA-A4992276E3F9}" srcOrd="2" destOrd="0" presId="urn:microsoft.com/office/officeart/2005/8/layout/default"/>
    <dgm:cxn modelId="{51B230AF-4272-4D71-8385-5CDEBC7682DD}" type="presParOf" srcId="{E5153257-96C0-4FE1-9110-8874E007A795}" destId="{9385C4C0-C543-4A35-A408-81AB9B5FF68E}" srcOrd="3" destOrd="0" presId="urn:microsoft.com/office/officeart/2005/8/layout/default"/>
    <dgm:cxn modelId="{6726D786-2882-499F-87F2-785D2DCF17AF}" type="presParOf" srcId="{E5153257-96C0-4FE1-9110-8874E007A795}" destId="{4B1179C3-BA41-4FDF-A00D-8F6FF7A75FE8}" srcOrd="4" destOrd="0" presId="urn:microsoft.com/office/officeart/2005/8/layout/default"/>
    <dgm:cxn modelId="{03BAB0F3-B9CC-4974-9F48-ACE3861775B5}" type="presParOf" srcId="{E5153257-96C0-4FE1-9110-8874E007A795}" destId="{0DAFE3FF-45AE-42C4-8340-54082A4B324A}" srcOrd="5" destOrd="0" presId="urn:microsoft.com/office/officeart/2005/8/layout/default"/>
    <dgm:cxn modelId="{283E2357-A7FF-4B31-BA16-FC7D6E26A1DD}" type="presParOf" srcId="{E5153257-96C0-4FE1-9110-8874E007A795}" destId="{E15A3A01-0761-4BA4-9ECB-0CE14D4C8FA6}" srcOrd="6" destOrd="0" presId="urn:microsoft.com/office/officeart/2005/8/layout/default"/>
    <dgm:cxn modelId="{29E05093-C2CC-4057-AF28-3D88B2DEB8B6}" type="presParOf" srcId="{E5153257-96C0-4FE1-9110-8874E007A795}" destId="{022CEBC0-05BD-425E-8ABB-A839B374FE31}" srcOrd="7" destOrd="0" presId="urn:microsoft.com/office/officeart/2005/8/layout/default"/>
    <dgm:cxn modelId="{153A003B-D998-45C3-BFFD-D1D609DF1A67}" type="presParOf" srcId="{E5153257-96C0-4FE1-9110-8874E007A795}" destId="{39B48CD2-7D7F-4A84-A14E-9F1F5914184E}" srcOrd="8" destOrd="0" presId="urn:microsoft.com/office/officeart/2005/8/layout/default"/>
    <dgm:cxn modelId="{EC21BB4D-B4D3-46EA-95E6-E367DDD793C4}" type="presParOf" srcId="{E5153257-96C0-4FE1-9110-8874E007A795}" destId="{2A1EC577-C3EA-4916-BA4D-1EDC5F47E751}" srcOrd="9" destOrd="0" presId="urn:microsoft.com/office/officeart/2005/8/layout/default"/>
    <dgm:cxn modelId="{7018D52F-CA6C-4EDC-8DC8-BF3CB2F7062D}" type="presParOf" srcId="{E5153257-96C0-4FE1-9110-8874E007A795}" destId="{9784F67C-6E94-4F01-8139-2B60AB59655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B35B04-106D-4348-A003-F1B49333079F}" type="doc">
      <dgm:prSet loTypeId="urn:microsoft.com/office/officeart/2005/8/layout/default" loCatId="list" qsTypeId="urn:microsoft.com/office/officeart/2005/8/quickstyle/simple4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1FCB247B-3194-45A0-8381-0750E9EA76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Relational Database Model State</a:t>
          </a:r>
        </a:p>
      </dgm:t>
    </dgm:pt>
    <dgm:pt modelId="{53DF2B94-82BB-4FD2-A495-B981E8113653}" type="parTrans" cxnId="{825F8D44-DF5D-40DC-ADAE-CB8ED3178C2E}">
      <dgm:prSet/>
      <dgm:spPr/>
      <dgm:t>
        <a:bodyPr/>
        <a:lstStyle/>
        <a:p>
          <a:endParaRPr lang="en-US"/>
        </a:p>
      </dgm:t>
    </dgm:pt>
    <dgm:pt modelId="{5FE558D4-7441-4FCD-B8F4-912D6E3EA6C2}" type="sibTrans" cxnId="{825F8D44-DF5D-40DC-ADAE-CB8ED3178C2E}">
      <dgm:prSet/>
      <dgm:spPr/>
      <dgm:t>
        <a:bodyPr/>
        <a:lstStyle/>
        <a:p>
          <a:endParaRPr lang="en-US"/>
        </a:p>
      </dgm:t>
    </dgm:pt>
    <dgm:pt modelId="{377776D2-6E53-49F0-B51E-EC60A8085A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Dimensional Databases Model Activities</a:t>
          </a:r>
        </a:p>
      </dgm:t>
    </dgm:pt>
    <dgm:pt modelId="{2C7D3ED2-604C-4524-B4AA-2B57258D6145}" type="parTrans" cxnId="{04424D55-76FE-4EA9-A93C-5E5D703B40D5}">
      <dgm:prSet/>
      <dgm:spPr/>
      <dgm:t>
        <a:bodyPr/>
        <a:lstStyle/>
        <a:p>
          <a:endParaRPr lang="en-US"/>
        </a:p>
      </dgm:t>
    </dgm:pt>
    <dgm:pt modelId="{C435AD67-E6AB-4701-B8DD-4E9C344C0A96}" type="sibTrans" cxnId="{04424D55-76FE-4EA9-A93C-5E5D703B40D5}">
      <dgm:prSet/>
      <dgm:spPr/>
      <dgm:t>
        <a:bodyPr/>
        <a:lstStyle/>
        <a:p>
          <a:endParaRPr lang="en-US"/>
        </a:p>
      </dgm:t>
    </dgm:pt>
    <dgm:pt modelId="{73C6A6F0-5C53-4E6C-A525-F36FBE2017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Warehouses May Include A Bit of Both</a:t>
          </a:r>
        </a:p>
      </dgm:t>
    </dgm:pt>
    <dgm:pt modelId="{98142A56-561C-4E93-85FB-B34BCF834851}" type="parTrans" cxnId="{7E797B7B-4242-48B1-9535-AE1BCA147478}">
      <dgm:prSet/>
      <dgm:spPr/>
      <dgm:t>
        <a:bodyPr/>
        <a:lstStyle/>
        <a:p>
          <a:endParaRPr lang="en-US"/>
        </a:p>
      </dgm:t>
    </dgm:pt>
    <dgm:pt modelId="{8FE4562F-114B-4AD0-A86D-065860456167}" type="sibTrans" cxnId="{7E797B7B-4242-48B1-9535-AE1BCA147478}">
      <dgm:prSet/>
      <dgm:spPr/>
      <dgm:t>
        <a:bodyPr/>
        <a:lstStyle/>
        <a:p>
          <a:endParaRPr lang="en-US"/>
        </a:p>
      </dgm:t>
    </dgm:pt>
    <dgm:pt modelId="{0B8EB6AC-1C5D-48AD-A6A3-9173133C4B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something MAY occur, it:</a:t>
          </a:r>
        </a:p>
      </dgm:t>
    </dgm:pt>
    <dgm:pt modelId="{C177C76A-27F3-4DEB-8F5A-C91CBEA864ED}" type="parTrans" cxnId="{B7CC6555-B38D-413E-BA90-3940A88FFF90}">
      <dgm:prSet/>
      <dgm:spPr/>
      <dgm:t>
        <a:bodyPr/>
        <a:lstStyle/>
        <a:p>
          <a:endParaRPr lang="en-US"/>
        </a:p>
      </dgm:t>
    </dgm:pt>
    <dgm:pt modelId="{9103BFD9-6233-418C-96F9-A276CA865412}" type="sibTrans" cxnId="{B7CC6555-B38D-413E-BA90-3940A88FFF90}">
      <dgm:prSet/>
      <dgm:spPr/>
      <dgm:t>
        <a:bodyPr/>
        <a:lstStyle/>
        <a:p>
          <a:endParaRPr lang="en-US"/>
        </a:p>
      </dgm:t>
    </dgm:pt>
    <dgm:pt modelId="{C44A02D3-D670-45B1-B873-F9BF85EC70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Must be modeled in your Relational Databases</a:t>
          </a:r>
        </a:p>
      </dgm:t>
    </dgm:pt>
    <dgm:pt modelId="{E48D9FF8-0103-4F56-B6EA-6EBAF0E020CC}" type="parTrans" cxnId="{68D91244-1023-4EC5-9E47-33B933BF766C}">
      <dgm:prSet/>
      <dgm:spPr/>
      <dgm:t>
        <a:bodyPr/>
        <a:lstStyle/>
        <a:p>
          <a:endParaRPr lang="en-US"/>
        </a:p>
      </dgm:t>
    </dgm:pt>
    <dgm:pt modelId="{04536F5E-B648-4227-954B-6B19FD2262E6}" type="sibTrans" cxnId="{68D91244-1023-4EC5-9E47-33B933BF766C}">
      <dgm:prSet/>
      <dgm:spPr/>
      <dgm:t>
        <a:bodyPr/>
        <a:lstStyle/>
        <a:p>
          <a:endParaRPr lang="en-US"/>
        </a:p>
      </dgm:t>
    </dgm:pt>
    <dgm:pt modelId="{C7356C53-DD12-4960-AEDF-CF648124C7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Only needs to be understood in your output for Business Intelligence Databases</a:t>
          </a:r>
        </a:p>
      </dgm:t>
    </dgm:pt>
    <dgm:pt modelId="{9DC36483-D753-4534-8123-9B4FC3AA957E}" type="parTrans" cxnId="{307754F8-2737-4226-BD23-08605401A437}">
      <dgm:prSet/>
      <dgm:spPr/>
      <dgm:t>
        <a:bodyPr/>
        <a:lstStyle/>
        <a:p>
          <a:endParaRPr lang="en-US"/>
        </a:p>
      </dgm:t>
    </dgm:pt>
    <dgm:pt modelId="{78EBC791-1592-4521-BD15-D18A25C7D953}" type="sibTrans" cxnId="{307754F8-2737-4226-BD23-08605401A437}">
      <dgm:prSet/>
      <dgm:spPr/>
      <dgm:t>
        <a:bodyPr/>
        <a:lstStyle/>
        <a:p>
          <a:endParaRPr lang="en-US"/>
        </a:p>
      </dgm:t>
    </dgm:pt>
    <dgm:pt modelId="{73960123-CB72-4758-8ACB-5C9DBAE1BA92}" type="pres">
      <dgm:prSet presAssocID="{29B35B04-106D-4348-A003-F1B49333079F}" presName="diagram" presStyleCnt="0">
        <dgm:presLayoutVars>
          <dgm:dir/>
          <dgm:resizeHandles val="exact"/>
        </dgm:presLayoutVars>
      </dgm:prSet>
      <dgm:spPr/>
    </dgm:pt>
    <dgm:pt modelId="{41EC3EC8-E00C-477A-8D30-19E8BBAE8315}" type="pres">
      <dgm:prSet presAssocID="{1FCB247B-3194-45A0-8381-0750E9EA7634}" presName="node" presStyleLbl="node1" presStyleIdx="0" presStyleCnt="4">
        <dgm:presLayoutVars>
          <dgm:bulletEnabled val="1"/>
        </dgm:presLayoutVars>
      </dgm:prSet>
      <dgm:spPr/>
    </dgm:pt>
    <dgm:pt modelId="{B2D983C8-FFAB-4F26-AAE5-70503D137843}" type="pres">
      <dgm:prSet presAssocID="{5FE558D4-7441-4FCD-B8F4-912D6E3EA6C2}" presName="sibTrans" presStyleCnt="0"/>
      <dgm:spPr/>
    </dgm:pt>
    <dgm:pt modelId="{3ED7941A-D26D-4CFA-9F42-133B1551B022}" type="pres">
      <dgm:prSet presAssocID="{377776D2-6E53-49F0-B51E-EC60A8085ABA}" presName="node" presStyleLbl="node1" presStyleIdx="1" presStyleCnt="4">
        <dgm:presLayoutVars>
          <dgm:bulletEnabled val="1"/>
        </dgm:presLayoutVars>
      </dgm:prSet>
      <dgm:spPr/>
    </dgm:pt>
    <dgm:pt modelId="{E25A025B-56C2-44FB-B41E-48B5EAE4B68E}" type="pres">
      <dgm:prSet presAssocID="{C435AD67-E6AB-4701-B8DD-4E9C344C0A96}" presName="sibTrans" presStyleCnt="0"/>
      <dgm:spPr/>
    </dgm:pt>
    <dgm:pt modelId="{5E797981-DB0E-46CE-AA01-6D74BC4A2452}" type="pres">
      <dgm:prSet presAssocID="{73C6A6F0-5C53-4E6C-A525-F36FBE201746}" presName="node" presStyleLbl="node1" presStyleIdx="2" presStyleCnt="4">
        <dgm:presLayoutVars>
          <dgm:bulletEnabled val="1"/>
        </dgm:presLayoutVars>
      </dgm:prSet>
      <dgm:spPr/>
    </dgm:pt>
    <dgm:pt modelId="{6CC19DC2-6F5D-4598-AB70-BCABEF9F4630}" type="pres">
      <dgm:prSet presAssocID="{8FE4562F-114B-4AD0-A86D-065860456167}" presName="sibTrans" presStyleCnt="0"/>
      <dgm:spPr/>
    </dgm:pt>
    <dgm:pt modelId="{13476CFA-3452-43E4-BA85-B45316A8F665}" type="pres">
      <dgm:prSet presAssocID="{0B8EB6AC-1C5D-48AD-A6A3-9173133C4B70}" presName="node" presStyleLbl="node1" presStyleIdx="3" presStyleCnt="4" custScaleX="322234">
        <dgm:presLayoutVars>
          <dgm:bulletEnabled val="1"/>
        </dgm:presLayoutVars>
      </dgm:prSet>
      <dgm:spPr/>
    </dgm:pt>
  </dgm:ptLst>
  <dgm:cxnLst>
    <dgm:cxn modelId="{B0EC2512-A4D5-41EE-B6BD-D8D810A19768}" type="presOf" srcId="{C7356C53-DD12-4960-AEDF-CF648124C7C7}" destId="{13476CFA-3452-43E4-BA85-B45316A8F665}" srcOrd="0" destOrd="2" presId="urn:microsoft.com/office/officeart/2005/8/layout/default"/>
    <dgm:cxn modelId="{7E8A5A32-4617-4369-88E9-F90AE0BE60D9}" type="presOf" srcId="{29B35B04-106D-4348-A003-F1B49333079F}" destId="{73960123-CB72-4758-8ACB-5C9DBAE1BA92}" srcOrd="0" destOrd="0" presId="urn:microsoft.com/office/officeart/2005/8/layout/default"/>
    <dgm:cxn modelId="{68D91244-1023-4EC5-9E47-33B933BF766C}" srcId="{0B8EB6AC-1C5D-48AD-A6A3-9173133C4B70}" destId="{C44A02D3-D670-45B1-B873-F9BF85EC701D}" srcOrd="0" destOrd="0" parTransId="{E48D9FF8-0103-4F56-B6EA-6EBAF0E020CC}" sibTransId="{04536F5E-B648-4227-954B-6B19FD2262E6}"/>
    <dgm:cxn modelId="{5D2F1B64-71C6-40E5-B430-8E9BA7911A09}" type="presOf" srcId="{C44A02D3-D670-45B1-B873-F9BF85EC701D}" destId="{13476CFA-3452-43E4-BA85-B45316A8F665}" srcOrd="0" destOrd="1" presId="urn:microsoft.com/office/officeart/2005/8/layout/default"/>
    <dgm:cxn modelId="{825F8D44-DF5D-40DC-ADAE-CB8ED3178C2E}" srcId="{29B35B04-106D-4348-A003-F1B49333079F}" destId="{1FCB247B-3194-45A0-8381-0750E9EA7634}" srcOrd="0" destOrd="0" parTransId="{53DF2B94-82BB-4FD2-A495-B981E8113653}" sibTransId="{5FE558D4-7441-4FCD-B8F4-912D6E3EA6C2}"/>
    <dgm:cxn modelId="{3117F572-A602-4C5A-B892-68179FD13109}" type="presOf" srcId="{0B8EB6AC-1C5D-48AD-A6A3-9173133C4B70}" destId="{13476CFA-3452-43E4-BA85-B45316A8F665}" srcOrd="0" destOrd="0" presId="urn:microsoft.com/office/officeart/2005/8/layout/default"/>
    <dgm:cxn modelId="{B7CC6555-B38D-413E-BA90-3940A88FFF90}" srcId="{29B35B04-106D-4348-A003-F1B49333079F}" destId="{0B8EB6AC-1C5D-48AD-A6A3-9173133C4B70}" srcOrd="3" destOrd="0" parTransId="{C177C76A-27F3-4DEB-8F5A-C91CBEA864ED}" sibTransId="{9103BFD9-6233-418C-96F9-A276CA865412}"/>
    <dgm:cxn modelId="{04424D55-76FE-4EA9-A93C-5E5D703B40D5}" srcId="{29B35B04-106D-4348-A003-F1B49333079F}" destId="{377776D2-6E53-49F0-B51E-EC60A8085ABA}" srcOrd="1" destOrd="0" parTransId="{2C7D3ED2-604C-4524-B4AA-2B57258D6145}" sibTransId="{C435AD67-E6AB-4701-B8DD-4E9C344C0A96}"/>
    <dgm:cxn modelId="{1AC7C157-007A-40F4-BAED-B3040797F094}" type="presOf" srcId="{377776D2-6E53-49F0-B51E-EC60A8085ABA}" destId="{3ED7941A-D26D-4CFA-9F42-133B1551B022}" srcOrd="0" destOrd="0" presId="urn:microsoft.com/office/officeart/2005/8/layout/default"/>
    <dgm:cxn modelId="{7E797B7B-4242-48B1-9535-AE1BCA147478}" srcId="{29B35B04-106D-4348-A003-F1B49333079F}" destId="{73C6A6F0-5C53-4E6C-A525-F36FBE201746}" srcOrd="2" destOrd="0" parTransId="{98142A56-561C-4E93-85FB-B34BCF834851}" sibTransId="{8FE4562F-114B-4AD0-A86D-065860456167}"/>
    <dgm:cxn modelId="{A32DB992-2A57-44A5-AB6D-9DC9220F61FA}" type="presOf" srcId="{73C6A6F0-5C53-4E6C-A525-F36FBE201746}" destId="{5E797981-DB0E-46CE-AA01-6D74BC4A2452}" srcOrd="0" destOrd="0" presId="urn:microsoft.com/office/officeart/2005/8/layout/default"/>
    <dgm:cxn modelId="{13F905AD-4A0D-4871-90C1-B682EA94351D}" type="presOf" srcId="{1FCB247B-3194-45A0-8381-0750E9EA7634}" destId="{41EC3EC8-E00C-477A-8D30-19E8BBAE8315}" srcOrd="0" destOrd="0" presId="urn:microsoft.com/office/officeart/2005/8/layout/default"/>
    <dgm:cxn modelId="{307754F8-2737-4226-BD23-08605401A437}" srcId="{0B8EB6AC-1C5D-48AD-A6A3-9173133C4B70}" destId="{C7356C53-DD12-4960-AEDF-CF648124C7C7}" srcOrd="1" destOrd="0" parTransId="{9DC36483-D753-4534-8123-9B4FC3AA957E}" sibTransId="{78EBC791-1592-4521-BD15-D18A25C7D953}"/>
    <dgm:cxn modelId="{032313E9-23C4-493E-A76F-EB995146D517}" type="presParOf" srcId="{73960123-CB72-4758-8ACB-5C9DBAE1BA92}" destId="{41EC3EC8-E00C-477A-8D30-19E8BBAE8315}" srcOrd="0" destOrd="0" presId="urn:microsoft.com/office/officeart/2005/8/layout/default"/>
    <dgm:cxn modelId="{DB48CA06-468E-4D93-859D-B0105396B0FA}" type="presParOf" srcId="{73960123-CB72-4758-8ACB-5C9DBAE1BA92}" destId="{B2D983C8-FFAB-4F26-AAE5-70503D137843}" srcOrd="1" destOrd="0" presId="urn:microsoft.com/office/officeart/2005/8/layout/default"/>
    <dgm:cxn modelId="{208F47B8-E210-4A40-A224-83A45D7397BA}" type="presParOf" srcId="{73960123-CB72-4758-8ACB-5C9DBAE1BA92}" destId="{3ED7941A-D26D-4CFA-9F42-133B1551B022}" srcOrd="2" destOrd="0" presId="urn:microsoft.com/office/officeart/2005/8/layout/default"/>
    <dgm:cxn modelId="{B8C9E503-9B3F-426F-AD29-225F94D17108}" type="presParOf" srcId="{73960123-CB72-4758-8ACB-5C9DBAE1BA92}" destId="{E25A025B-56C2-44FB-B41E-48B5EAE4B68E}" srcOrd="3" destOrd="0" presId="urn:microsoft.com/office/officeart/2005/8/layout/default"/>
    <dgm:cxn modelId="{E4364533-7C18-4706-B7CD-FA4CB42FE621}" type="presParOf" srcId="{73960123-CB72-4758-8ACB-5C9DBAE1BA92}" destId="{5E797981-DB0E-46CE-AA01-6D74BC4A2452}" srcOrd="4" destOrd="0" presId="urn:microsoft.com/office/officeart/2005/8/layout/default"/>
    <dgm:cxn modelId="{9656CFAD-131E-4081-BC42-7A6120CC8CDF}" type="presParOf" srcId="{73960123-CB72-4758-8ACB-5C9DBAE1BA92}" destId="{6CC19DC2-6F5D-4598-AB70-BCABEF9F4630}" srcOrd="5" destOrd="0" presId="urn:microsoft.com/office/officeart/2005/8/layout/default"/>
    <dgm:cxn modelId="{601C34CD-D2B0-4EDF-8048-92D0EADC6F28}" type="presParOf" srcId="{73960123-CB72-4758-8ACB-5C9DBAE1BA92}" destId="{13476CFA-3452-43E4-BA85-B45316A8F66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865469-18EE-4CA9-9C3D-A97587602F8A}">
      <dsp:nvSpPr>
        <dsp:cNvPr id="0" name=""/>
        <dsp:cNvSpPr/>
      </dsp:nvSpPr>
      <dsp:spPr>
        <a:xfrm>
          <a:off x="0" y="780464"/>
          <a:ext cx="2967490" cy="17804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Processes to move data back and forth between the “primary” version of these</a:t>
          </a:r>
        </a:p>
      </dsp:txBody>
      <dsp:txXfrm>
        <a:off x="0" y="780464"/>
        <a:ext cx="2967490" cy="1780494"/>
      </dsp:txXfrm>
    </dsp:sp>
    <dsp:sp modelId="{A9C9996B-B3A8-470E-A3CA-A4992276E3F9}">
      <dsp:nvSpPr>
        <dsp:cNvPr id="0" name=""/>
        <dsp:cNvSpPr/>
      </dsp:nvSpPr>
      <dsp:spPr>
        <a:xfrm>
          <a:off x="3264240" y="780464"/>
          <a:ext cx="2967490" cy="17804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Simple databases designed for special reasons’</a:t>
          </a:r>
        </a:p>
      </dsp:txBody>
      <dsp:txXfrm>
        <a:off x="3264240" y="780464"/>
        <a:ext cx="2967490" cy="1780494"/>
      </dsp:txXfrm>
    </dsp:sp>
    <dsp:sp modelId="{4B1179C3-BA41-4FDF-A00D-8F6FF7A75FE8}">
      <dsp:nvSpPr>
        <dsp:cNvPr id="0" name=""/>
        <dsp:cNvSpPr/>
      </dsp:nvSpPr>
      <dsp:spPr>
        <a:xfrm>
          <a:off x="6528480" y="780464"/>
          <a:ext cx="2967490" cy="17804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Databases built with no design in mind</a:t>
          </a:r>
        </a:p>
      </dsp:txBody>
      <dsp:txXfrm>
        <a:off x="6528480" y="780464"/>
        <a:ext cx="2967490" cy="1780494"/>
      </dsp:txXfrm>
    </dsp:sp>
    <dsp:sp modelId="{E15A3A01-0761-4BA4-9ECB-0CE14D4C8FA6}">
      <dsp:nvSpPr>
        <dsp:cNvPr id="0" name=""/>
        <dsp:cNvSpPr/>
      </dsp:nvSpPr>
      <dsp:spPr>
        <a:xfrm>
          <a:off x="0" y="2857708"/>
          <a:ext cx="2967490" cy="17804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NoSQL databases</a:t>
          </a:r>
        </a:p>
      </dsp:txBody>
      <dsp:txXfrm>
        <a:off x="0" y="2857708"/>
        <a:ext cx="2967490" cy="1780494"/>
      </dsp:txXfrm>
    </dsp:sp>
    <dsp:sp modelId="{39B48CD2-7D7F-4A84-A14E-9F1F5914184E}">
      <dsp:nvSpPr>
        <dsp:cNvPr id="0" name=""/>
        <dsp:cNvSpPr/>
      </dsp:nvSpPr>
      <dsp:spPr>
        <a:xfrm>
          <a:off x="3264240" y="2857708"/>
          <a:ext cx="2967490" cy="17804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Applications</a:t>
          </a:r>
          <a:endParaRPr lang="en-US" sz="2300" kern="1200" dirty="0"/>
        </a:p>
      </dsp:txBody>
      <dsp:txXfrm>
        <a:off x="3264240" y="2857708"/>
        <a:ext cx="2967490" cy="1780494"/>
      </dsp:txXfrm>
    </dsp:sp>
    <dsp:sp modelId="{9784F67C-6E94-4F01-8139-2B60AB596557}">
      <dsp:nvSpPr>
        <dsp:cNvPr id="0" name=""/>
        <dsp:cNvSpPr/>
      </dsp:nvSpPr>
      <dsp:spPr>
        <a:xfrm>
          <a:off x="6528480" y="2857708"/>
          <a:ext cx="2967490" cy="17804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Etc</a:t>
          </a:r>
          <a:r>
            <a:rPr lang="en-US" sz="2300" kern="1200" dirty="0"/>
            <a:t>, </a:t>
          </a:r>
          <a:r>
            <a:rPr lang="en-US" sz="2300" kern="1200" dirty="0" err="1"/>
            <a:t>etc</a:t>
          </a:r>
          <a:r>
            <a:rPr lang="en-US" sz="2300" kern="1200" dirty="0"/>
            <a:t>, </a:t>
          </a:r>
          <a:r>
            <a:rPr lang="en-US" sz="2300" kern="1200" dirty="0" err="1"/>
            <a:t>etc</a:t>
          </a:r>
          <a:endParaRPr lang="en-US" sz="2300" kern="1200" dirty="0"/>
        </a:p>
      </dsp:txBody>
      <dsp:txXfrm>
        <a:off x="6528480" y="2857708"/>
        <a:ext cx="2967490" cy="1780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C3EC8-E00C-477A-8D30-19E8BBAE8315}">
      <dsp:nvSpPr>
        <dsp:cNvPr id="0" name=""/>
        <dsp:cNvSpPr/>
      </dsp:nvSpPr>
      <dsp:spPr>
        <a:xfrm>
          <a:off x="42579" y="38241"/>
          <a:ext cx="3379786" cy="202787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Relational Database Model State</a:t>
          </a:r>
        </a:p>
      </dsp:txBody>
      <dsp:txXfrm>
        <a:off x="42579" y="38241"/>
        <a:ext cx="3379786" cy="2027871"/>
      </dsp:txXfrm>
    </dsp:sp>
    <dsp:sp modelId="{3ED7941A-D26D-4CFA-9F42-133B1551B022}">
      <dsp:nvSpPr>
        <dsp:cNvPr id="0" name=""/>
        <dsp:cNvSpPr/>
      </dsp:nvSpPr>
      <dsp:spPr>
        <a:xfrm>
          <a:off x="3760345" y="38241"/>
          <a:ext cx="3379786" cy="202787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3333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-13333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-13333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3333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Dimensional Databases Model Activities</a:t>
          </a:r>
        </a:p>
      </dsp:txBody>
      <dsp:txXfrm>
        <a:off x="3760345" y="38241"/>
        <a:ext cx="3379786" cy="2027871"/>
      </dsp:txXfrm>
    </dsp:sp>
    <dsp:sp modelId="{5E797981-DB0E-46CE-AA01-6D74BC4A2452}">
      <dsp:nvSpPr>
        <dsp:cNvPr id="0" name=""/>
        <dsp:cNvSpPr/>
      </dsp:nvSpPr>
      <dsp:spPr>
        <a:xfrm>
          <a:off x="7478110" y="38241"/>
          <a:ext cx="3379786" cy="202787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6667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-26667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-26667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6667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Data Warehouses May Include A Bit of Both</a:t>
          </a:r>
        </a:p>
      </dsp:txBody>
      <dsp:txXfrm>
        <a:off x="7478110" y="38241"/>
        <a:ext cx="3379786" cy="2027871"/>
      </dsp:txXfrm>
    </dsp:sp>
    <dsp:sp modelId="{13476CFA-3452-43E4-BA85-B45316A8F665}">
      <dsp:nvSpPr>
        <dsp:cNvPr id="0" name=""/>
        <dsp:cNvSpPr/>
      </dsp:nvSpPr>
      <dsp:spPr>
        <a:xfrm>
          <a:off x="4827" y="2404092"/>
          <a:ext cx="10890821" cy="202787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-40000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-40000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If something MAY occur, it: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Must be modeled in your Relational Databases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Only needs to be understood in your output for Business Intelligence Databases</a:t>
          </a:r>
        </a:p>
      </dsp:txBody>
      <dsp:txXfrm>
        <a:off x="4827" y="2404092"/>
        <a:ext cx="10890821" cy="20278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37A64-A80C-4DD6-B02C-1EA50F1AA5C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C0EA7-1F24-43DD-BE67-E5D12BE81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0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178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C0EA7-1F24-43DD-BE67-E5D12BE819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37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Why do we build databases?</a:t>
            </a:r>
          </a:p>
          <a:p>
            <a:endParaRPr lang="en-US"/>
          </a:p>
          <a:p>
            <a:pPr marL="228600" indent="-228600">
              <a:buAutoNum type="arabicPeriod"/>
            </a:pPr>
            <a:r>
              <a:rPr lang="en-US"/>
              <a:t>To allow high throughput of data being input.</a:t>
            </a:r>
          </a:p>
          <a:p>
            <a:pPr marL="685800" lvl="1" indent="-228600">
              <a:buAutoNum type="arabicPeriod"/>
            </a:pPr>
            <a:r>
              <a:rPr lang="en-US"/>
              <a:t>Of course… but what good is data if it is stored poorly?</a:t>
            </a:r>
          </a:p>
          <a:p>
            <a:pPr marL="228600" lvl="0" indent="-228600">
              <a:buAutoNum type="arabicPeriod"/>
            </a:pPr>
            <a:r>
              <a:rPr lang="en-US"/>
              <a:t>To DO things with the data</a:t>
            </a:r>
          </a:p>
          <a:p>
            <a:pPr marL="685800" lvl="1" indent="-228600">
              <a:buAutoNum type="arabicPeriod"/>
            </a:pPr>
            <a:r>
              <a:rPr lang="en-US"/>
              <a:t>#1 to capture that an action has or has not occurred</a:t>
            </a:r>
          </a:p>
          <a:p>
            <a:pPr marL="685800" lvl="1" indent="-228600">
              <a:buAutoNum type="arabicPeriod"/>
            </a:pPr>
            <a:r>
              <a:rPr lang="en-US"/>
              <a:t>Short term reports</a:t>
            </a:r>
          </a:p>
          <a:p>
            <a:pPr marL="685800" lvl="1" indent="-228600">
              <a:buAutoNum type="arabicPeriod"/>
            </a:pPr>
            <a:r>
              <a:rPr lang="en-US"/>
              <a:t>Long term reports</a:t>
            </a:r>
          </a:p>
          <a:p>
            <a:pPr marL="685800" lvl="1" indent="-228600">
              <a:buAutoNum type="arabicPeriod"/>
            </a:pPr>
            <a:r>
              <a:rPr lang="en-US"/>
              <a:t>Process returns</a:t>
            </a:r>
          </a:p>
          <a:p>
            <a:pPr marL="685800" lvl="1" indent="-228600">
              <a:buAutoNum type="arabicPeriod"/>
            </a:pPr>
            <a:r>
              <a:rPr lang="en-US"/>
              <a:t>Prevent future issues</a:t>
            </a:r>
          </a:p>
          <a:p>
            <a:pPr marL="685800" lvl="1" indent="-228600">
              <a:buAutoNum type="arabicPeriod"/>
            </a:pPr>
            <a:r>
              <a:rPr lang="en-US"/>
              <a:t>Marketing (which does sound better than advertising!)</a:t>
            </a:r>
          </a:p>
          <a:p>
            <a:pPr marL="228600" lvl="0" indent="-228600">
              <a:buAutoNum type="arabicPeriod"/>
            </a:pPr>
            <a:r>
              <a:rPr lang="en-US"/>
              <a:t>#1 is generally the one that is truly treated as important as immediate questions are asked</a:t>
            </a:r>
          </a:p>
          <a:p>
            <a:pPr marL="685800" lvl="1" indent="-228600">
              <a:buAutoNum type="arabicPeriod"/>
            </a:pPr>
            <a:r>
              <a:rPr lang="en-US"/>
              <a:t>Customer ordered product, didn’t get it</a:t>
            </a:r>
          </a:p>
          <a:p>
            <a:pPr marL="685800" lvl="1" indent="-228600">
              <a:buAutoNum type="arabicPeriod"/>
            </a:pPr>
            <a:r>
              <a:rPr lang="en-US"/>
              <a:t>Why did’t customer get this email</a:t>
            </a:r>
          </a:p>
          <a:p>
            <a:pPr marL="685800" lvl="1" indent="-228600">
              <a:buAutoNum type="arabicPeriod"/>
            </a:pPr>
            <a:r>
              <a:rPr lang="en-US"/>
              <a:t>Customer said if we send them another freaking email…</a:t>
            </a:r>
          </a:p>
          <a:p>
            <a:pPr marL="685800" lvl="1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4A860-8E55-4793-B9FA-53BB072A21A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690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Fix spelling of thought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C0EA7-1F24-43DD-BE67-E5D12BE819B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42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C0EA7-1F24-43DD-BE67-E5D12BE819B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59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[twitter] Slides will be on drsql.org in the presentations area for this and the keynote as soon as I can get them out there. @</a:t>
            </a:r>
            <a:r>
              <a:rPr lang="en-US" i="1" err="1"/>
              <a:t>rm</a:t>
            </a:r>
            <a:r>
              <a:rPr lang="en-US" b="1" i="1" err="1"/>
              <a:t>techtrifecta</a:t>
            </a:r>
            <a:r>
              <a:rPr lang="en-US" b="1" i="1"/>
              <a:t> </a:t>
            </a:r>
            <a:r>
              <a:rPr lang="en-US"/>
              <a:t>[/twitter]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C4A860-8E55-4793-B9FA-53BB072A21A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40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822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89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613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6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56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61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017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89CEFD-1BF0-43A7-BF71-6C543BA88E7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4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89CEFD-1BF0-43A7-BF71-6C543BA88E7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2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09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25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F43BB-8BC2-094F-9976-8843274EE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656C9-1A5B-7438-22D2-7F684BBE8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111F5-5DCF-C4DB-3091-1D3C84530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DDD9B-3243-75A1-6BB4-6BA770CB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5D1B8-2752-AC28-A87E-C9B8EC6C8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121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E678-406F-5E13-291C-50AE4431E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3FEEE-89A9-51BB-DD69-9125EDEF2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0BE56-EA8F-74CB-D63E-83F27F096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A8856-61B4-424A-DEF1-7EA2C286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434A3-B10A-0D75-B268-B01D9BDA5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3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5F29-9BD9-64C8-DB42-7A287F2F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AFB0A-0C6D-6479-C03C-1022596CF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4C0F4-8DC1-5471-0FAC-760B87C8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E82D0-88FA-36FC-6A9F-777A97F11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359E9-EABA-CF43-3684-8B1412DC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66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DE58-1854-AA43-66AD-A5D1F46F6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CF9E4-30F3-1FFA-E371-8E2D8D204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4F1FB-7B10-9B7D-C341-2783E3320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E6809-E9DF-4F7F-383E-87790329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E0850-B7C8-335D-4D55-814ED937C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A8832-7CEB-E2E5-7DCF-04D289A0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259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6A48-F5B7-8557-F5D9-7A0964A7B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322D2-43E4-C75F-F9CD-E6CEA62EA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09D9E-D991-C827-5A0A-0F71C4998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9EEB12-1515-C2BA-9B89-A896DA75F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BB53DF-4721-234A-8A67-397DF519B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021D81-EC3C-8F3A-529B-FD9111A1B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ED616-2AE2-D20B-F04B-D3D448505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00F6B8-790A-1CA3-B8D7-3E35774F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175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A6F0D-AD66-AB5F-2B52-34FA3DB28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2ECBA-1D9F-7450-4F9A-DF96B1B9C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AB0F0-4342-B73B-9B77-46937FE75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09E20-8E44-0F96-6554-35E88D3A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67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9000E1-103E-2230-7BEC-A893E0A0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7B26D-4EBB-6AE1-49CD-1A5A4BC05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D6991-9E7E-AF82-1875-539B0F82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662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E1B5-E123-9BE3-4CC7-D2E028444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BE085-EBDD-CA88-F42D-0096F545C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77562-E8CD-6EAA-2C12-ED6617AE4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96CBF-492A-1BAF-8557-BC431BD4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B2A35-1FE8-0DDA-5F28-FFCD1B4F7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C693A-5340-007F-2FC6-202834A9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859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AF72-AC54-F7BA-E2FA-427FDBABC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0FFAB-E053-B564-5F4B-D26910E828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28119-0CD4-7935-A7CC-AE33AB6A4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8EE6D-2DFC-65C8-4380-D93AC88E3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8307B-8FEA-B6B1-8B9B-74DD44C6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4F821-EE2D-341B-C6C7-4056911D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653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B6C4C-43A0-A88C-8A51-00BB01C99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BA018-927B-5B7E-2994-0BF948C54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13E3F-5687-2572-C421-2E1E7A0F5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9CC6C-2443-B6F2-C188-B2EDFDB0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A5633-0909-A729-59EB-3FDF3CE0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34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478230-EFF7-03C7-6A9A-DA67C6B41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7A78C6-4038-E579-D304-EC37BB0D9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105E6-242A-03B9-2C99-3FED3D9D4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13840-606F-CEAE-C3E8-3FCC843B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B4F1F-B00D-0B06-B8B6-0B2E67C77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3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589CEFD-1BF0-43A7-BF71-6C543BA88E7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9147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D17D50-AE5F-FA26-89DE-0B32BEEEE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03782-537F-CF9A-40FB-3E6622C34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C6AF1-D645-A970-0D43-38BE748F5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FE6D9-F736-47F6-9B7D-D32DC0152B5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EE195-33D0-E1CC-D883-6F02CBC7C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C8CCA-F29A-1D4B-53D4-42A798B72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9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bismart.com/en/medallion-architecture" TargetMode="External"/><Relationship Id="rId2" Type="http://schemas.openxmlformats.org/officeDocument/2006/relationships/hyperlink" Target="https://www.kimballgroup.com/2004/01/data-warehouse-dining-experienc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mailto:louis@drsql.org" TargetMode="External"/><Relationship Id="rId7" Type="http://schemas.openxmlformats.org/officeDocument/2006/relationships/hyperlink" Target="https://linkedin.com/in/louisdavidso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sql.link" TargetMode="External"/><Relationship Id="rId5" Type="http://schemas.openxmlformats.org/officeDocument/2006/relationships/hyperlink" Target="https://drsql.link/presentations" TargetMode="External"/><Relationship Id="rId4" Type="http://schemas.openxmlformats.org/officeDocument/2006/relationships/hyperlink" Target="http://drsql.org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rsql.link/presentation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3F96-10E6-7EA9-471D-D769A10B7E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Dimensional and Relational Design Differences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B226D-20B2-D67D-26B7-DFC6DFA539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Similar, but also </a:t>
            </a:r>
            <a:r>
              <a:rPr lang="en-US"/>
              <a:t>very different</a:t>
            </a:r>
            <a:endParaRPr lang="en-US" dirty="0"/>
          </a:p>
          <a:p>
            <a:endParaRPr lang="en-US" dirty="0"/>
          </a:p>
          <a:p>
            <a:r>
              <a:rPr lang="en-US" dirty="0"/>
              <a:t>Louis Davidson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241945-1040-ED5F-309F-EAC3C0D76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885" y="5018267"/>
            <a:ext cx="2134515" cy="63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00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9C6E7-2BAC-6953-9220-E8D9466A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23909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Bit of a warning…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EF34A-DA35-945D-F57F-285A0C8B5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1577" y="3747129"/>
            <a:ext cx="4508641" cy="161338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This presentation is interactive</a:t>
            </a:r>
          </a:p>
          <a:p>
            <a:pPr marL="0" indent="0" algn="ctr">
              <a:buNone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If you d</a:t>
            </a:r>
            <a:r>
              <a:rPr lang="en-US" sz="2000" dirty="0">
                <a:solidFill>
                  <a:schemeClr val="bg1"/>
                </a:solidFill>
              </a:rPr>
              <a:t>on’t interact, I will start daydreaming about going back home to work and I don’t want to think about that yet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919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icrophone in a bar">
            <a:extLst>
              <a:ext uri="{FF2B5EF4-FFF2-40B4-BE49-F238E27FC236}">
                <a16:creationId xmlns:a16="http://schemas.microsoft.com/office/drawing/2014/main" id="{C55F38B2-8396-9430-8741-8616145682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59" b="11872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4CF58-509A-BB1A-D3D3-9C9AA1894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18820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And now… on with the show!</a:t>
            </a:r>
          </a:p>
        </p:txBody>
      </p:sp>
    </p:spTree>
    <p:extLst>
      <p:ext uri="{BB962C8B-B14F-4D97-AF65-F5344CB8AC3E}">
        <p14:creationId xmlns:p14="http://schemas.microsoft.com/office/powerpoint/2010/main" val="3249788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1D64472-9720-4FBC-B628-F62EE9D01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/>
              <a:t>Who Am I?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851473-A269-1E6C-53A7-F41E1F79E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697" y="645106"/>
            <a:ext cx="3804616" cy="5247747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8274B1F-2E6E-4044-94F7-2AB4E90F6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en-US" sz="1300" b="1" dirty="0"/>
              <a:t>Database programmer/architect &gt; 30 years</a:t>
            </a:r>
          </a:p>
          <a:p>
            <a:r>
              <a:rPr lang="en-US" sz="1300" b="1" dirty="0"/>
              <a:t>Former Microsoft MVP (19 Times)</a:t>
            </a:r>
          </a:p>
          <a:p>
            <a:r>
              <a:rPr lang="en-US" sz="1300" b="1" dirty="0"/>
              <a:t>Written 6 books on database design</a:t>
            </a:r>
          </a:p>
          <a:p>
            <a:pPr lvl="1"/>
            <a:r>
              <a:rPr lang="en-US" sz="1300" dirty="0"/>
              <a:t>They were technically all versions of the same book.  </a:t>
            </a:r>
          </a:p>
          <a:p>
            <a:pPr lvl="1"/>
            <a:r>
              <a:rPr lang="en-US" sz="1300" dirty="0"/>
              <a:t>They at least had slightly different titles each time</a:t>
            </a:r>
          </a:p>
          <a:p>
            <a:pPr lvl="1"/>
            <a:r>
              <a:rPr lang="en-US" sz="1300" dirty="0"/>
              <a:t>Seventh Edition? Who knows?</a:t>
            </a:r>
          </a:p>
          <a:p>
            <a:r>
              <a:rPr lang="en-US" sz="1300" b="1" dirty="0"/>
              <a:t>Super Brief Contact Info: DRSQL</a:t>
            </a:r>
          </a:p>
          <a:p>
            <a:pPr lvl="1"/>
            <a:r>
              <a:rPr lang="en-US" sz="1300" dirty="0"/>
              <a:t>Twitter</a:t>
            </a:r>
          </a:p>
          <a:p>
            <a:pPr lvl="1"/>
            <a:r>
              <a:rPr lang="en-US" sz="1300" dirty="0"/>
              <a:t>Website/blog (.org | .link) </a:t>
            </a:r>
          </a:p>
          <a:p>
            <a:pPr lvl="1"/>
            <a:r>
              <a:rPr lang="en-US" sz="1300" dirty="0"/>
              <a:t>Email (@hotmail.com)</a:t>
            </a:r>
          </a:p>
          <a:p>
            <a:pPr lvl="1"/>
            <a:r>
              <a:rPr lang="en-US" sz="1300" dirty="0"/>
              <a:t>Instagram: @drsql</a:t>
            </a:r>
          </a:p>
          <a:p>
            <a:pPr lvl="1"/>
            <a:r>
              <a:rPr lang="en-US" sz="1300" dirty="0"/>
              <a:t>LinkedIn (actually that handle is </a:t>
            </a:r>
            <a:r>
              <a:rPr lang="en-US" sz="1300" dirty="0" err="1"/>
              <a:t>LouisDavidson</a:t>
            </a:r>
            <a:r>
              <a:rPr lang="en-US" sz="1300" dirty="0"/>
              <a:t>, but you can search for </a:t>
            </a:r>
            <a:r>
              <a:rPr lang="en-US" sz="1300" dirty="0" err="1"/>
              <a:t>drsql</a:t>
            </a:r>
            <a:r>
              <a:rPr lang="en-US" sz="1300" dirty="0"/>
              <a:t>)</a:t>
            </a:r>
          </a:p>
          <a:p>
            <a:endParaRPr lang="en-US" sz="1300" dirty="0"/>
          </a:p>
          <a:p>
            <a:endParaRPr lang="en-US" sz="1300" dirty="0"/>
          </a:p>
          <a:p>
            <a:endParaRPr lang="en-US" sz="13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7BD5AB-415F-42D4-8FC0-DCC5D1101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8EBF22-DAF1-4100-AA4A-A077B68E3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1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6E6FEC8-170C-492C-84E0-54394629D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E940A1-B9E0-4C5D-A55E-B19742379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1C8E47B-A563-4B44-A9B0-9316605C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 descr="A body of water with a dock and buildings in the background&#10;&#10;AI-generated content may be incorrect.">
            <a:extLst>
              <a:ext uri="{FF2B5EF4-FFF2-40B4-BE49-F238E27FC236}">
                <a16:creationId xmlns:a16="http://schemas.microsoft.com/office/drawing/2014/main" id="{41ED4C77-8023-8F12-C39F-6BF28FCFA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DC13DF-0BF2-C072-719C-D1838F8E6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27" y="2083255"/>
            <a:ext cx="10058400" cy="16689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>
                <a:solidFill>
                  <a:schemeClr val="tx1"/>
                </a:solidFill>
              </a:rPr>
              <a:t>My background</a:t>
            </a:r>
            <a:endParaRPr lang="en-US" sz="8000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C7D7D77-8DF2-444B-A0BB-15B065195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7A72AB3-7AC2-4380-8B64-AFC8AC684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34896F5-ADC0-4F92-891D-8AD641242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385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C907-605B-3FF8-0BDB-6F945197B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A50C1-AF2E-6AB8-A4EF-BD81B7518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6" descr="A body of water with a dock and buildings in the background&#10;&#10;AI-generated content may be incorrect.">
            <a:extLst>
              <a:ext uri="{FF2B5EF4-FFF2-40B4-BE49-F238E27FC236}">
                <a16:creationId xmlns:a16="http://schemas.microsoft.com/office/drawing/2014/main" id="{F5CA7A12-B745-3BF4-B5D3-4143BB90A7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"/>
            <a:ext cx="1219198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01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view from a train&#10;&#10;Description automatically generated">
            <a:extLst>
              <a:ext uri="{FF2B5EF4-FFF2-40B4-BE49-F238E27FC236}">
                <a16:creationId xmlns:a16="http://schemas.microsoft.com/office/drawing/2014/main" id="{05D9DABA-3974-0920-DEE2-42E45415BE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7" y="3269524"/>
            <a:ext cx="8300065" cy="4668786"/>
          </a:xfrm>
          <a:prstGeom prst="rect">
            <a:avLst/>
          </a:prstGeom>
        </p:spPr>
      </p:pic>
      <p:pic>
        <p:nvPicPr>
          <p:cNvPr id="7" name="Picture 6" descr="A roller coaster ride in a park&#10;&#10;Description automatically generated">
            <a:extLst>
              <a:ext uri="{FF2B5EF4-FFF2-40B4-BE49-F238E27FC236}">
                <a16:creationId xmlns:a16="http://schemas.microsoft.com/office/drawing/2014/main" id="{FEA342DD-DCD9-943F-1485-515A4B895DF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938" y="1364454"/>
            <a:ext cx="3932351" cy="22119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3E6CBE-4465-5C2C-996B-E22FC24E8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357" y="317013"/>
            <a:ext cx="7778044" cy="950420"/>
          </a:xfrm>
        </p:spPr>
        <p:txBody>
          <a:bodyPr>
            <a:noAutofit/>
          </a:bodyPr>
          <a:lstStyle/>
          <a:p>
            <a:r>
              <a:rPr lang="en-US" sz="4000" dirty="0"/>
              <a:t>My non-tech hobby: Instagram: @figmentsintime</a:t>
            </a:r>
          </a:p>
        </p:txBody>
      </p:sp>
      <p:pic>
        <p:nvPicPr>
          <p:cNvPr id="5" name="Content Placeholder 4" descr="A roller coaster in the woods&#10;&#10;Description automatically generated">
            <a:extLst>
              <a:ext uri="{FF2B5EF4-FFF2-40B4-BE49-F238E27FC236}">
                <a16:creationId xmlns:a16="http://schemas.microsoft.com/office/drawing/2014/main" id="{202BF86F-C2D8-8A03-4F70-575301183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7" y="1364384"/>
            <a:ext cx="3932351" cy="2212018"/>
          </a:xfrm>
        </p:spPr>
      </p:pic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185AA850-4FE6-78FD-C2F0-9A2EB36A9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1149" y="1399153"/>
            <a:ext cx="4110851" cy="548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653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F4539-0668-7379-4A6C-096A3FA61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5052DB-6D1C-251D-E1E6-349CA50F5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516835"/>
            <a:ext cx="3100136" cy="2103875"/>
          </a:xfrm>
        </p:spPr>
        <p:txBody>
          <a:bodyPr>
            <a:normAutofit/>
          </a:bodyPr>
          <a:lstStyle/>
          <a:p>
            <a:r>
              <a:rPr lang="en-US" sz="3600" b="1"/>
              <a:t>My professional background</a:t>
            </a:r>
            <a:endParaRPr lang="en-US" sz="3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7432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3FE88-97DB-AC47-6068-8EF63FA5B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736574"/>
            <a:ext cx="3084844" cy="3366047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500"/>
              <a:t>Over 30 years as a little bit of a:</a:t>
            </a:r>
          </a:p>
          <a:p>
            <a:pPr marL="383540" lvl="1"/>
            <a:r>
              <a:rPr lang="en-US" sz="1500"/>
              <a:t>DBA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r>
              <a:rPr lang="en-US" sz="1500"/>
              <a:t>Transact SQL Programmer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r>
              <a:rPr lang="en-US" sz="1500"/>
              <a:t>Data Architect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r>
              <a:rPr lang="en-US" sz="1500"/>
              <a:t>ETL Developer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r>
              <a:rPr lang="en-US" sz="1500"/>
              <a:t>Writer/blogger/speaker/learner about these topics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566420" lvl="2"/>
            <a:r>
              <a:rPr lang="en-US" sz="1500"/>
              <a:t>Written several books on Relational Database Design (Last time I will mention this...most likely)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566420" lvl="2"/>
            <a:r>
              <a:rPr lang="en-US" sz="1500"/>
              <a:t>Went to a few of the Kimball Group’s Classes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endParaRPr lang="en-US" sz="15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4" descr="Books stacked on a table">
            <a:extLst>
              <a:ext uri="{FF2B5EF4-FFF2-40B4-BE49-F238E27FC236}">
                <a16:creationId xmlns:a16="http://schemas.microsoft.com/office/drawing/2014/main" id="{9F776DE8-7CB2-4D90-977B-58788B20B5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9" r="9532" b="-1"/>
          <a:stretch>
            <a:fillRect/>
          </a:stretch>
        </p:blipFill>
        <p:spPr>
          <a:xfrm>
            <a:off x="4075043" y="10"/>
            <a:ext cx="811127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92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8" descr="A circular structure with many dots and lines&#10;&#10;Description automatically generated">
            <a:extLst>
              <a:ext uri="{FF2B5EF4-FFF2-40B4-BE49-F238E27FC236}">
                <a16:creationId xmlns:a16="http://schemas.microsoft.com/office/drawing/2014/main" id="{F9954D7D-7549-5A04-1EFD-CCD2FE20F8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3825" cy="6858000"/>
          </a:xfr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892DB53-DC66-4177-B11A-04BDC9EE6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177" y="194756"/>
            <a:ext cx="7885824" cy="63013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do we build databases to start with?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9B118944-5C66-F8C2-DB24-DBA963EF7A0C}"/>
              </a:ext>
            </a:extLst>
          </p:cNvPr>
          <p:cNvSpPr/>
          <p:nvPr/>
        </p:nvSpPr>
        <p:spPr>
          <a:xfrm>
            <a:off x="77518" y="2465903"/>
            <a:ext cx="2677392" cy="114300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Record Some Activity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34BB3F7-037E-45D4-4265-0D5B9F188ABD}"/>
              </a:ext>
            </a:extLst>
          </p:cNvPr>
          <p:cNvSpPr/>
          <p:nvPr/>
        </p:nvSpPr>
        <p:spPr>
          <a:xfrm>
            <a:off x="8517146" y="2758335"/>
            <a:ext cx="2954658" cy="9633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Act on the activity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09E7EEA-EE52-548E-AE2E-E8FFD2F6FECF}"/>
              </a:ext>
            </a:extLst>
          </p:cNvPr>
          <p:cNvSpPr/>
          <p:nvPr/>
        </p:nvSpPr>
        <p:spPr>
          <a:xfrm>
            <a:off x="8531142" y="3499710"/>
            <a:ext cx="3698938" cy="128066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Immediately report that this action has occurred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D803ED08-C34E-FF79-5971-37F3F6445492}"/>
              </a:ext>
            </a:extLst>
          </p:cNvPr>
          <p:cNvSpPr/>
          <p:nvPr/>
        </p:nvSpPr>
        <p:spPr>
          <a:xfrm>
            <a:off x="8539892" y="1793238"/>
            <a:ext cx="2954658" cy="888575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Determine trends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37988F7-721C-BEEF-7FD0-797A91F0A62A}"/>
              </a:ext>
            </a:extLst>
          </p:cNvPr>
          <p:cNvSpPr/>
          <p:nvPr/>
        </p:nvSpPr>
        <p:spPr>
          <a:xfrm>
            <a:off x="8517145" y="5464998"/>
            <a:ext cx="3433117" cy="995682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 prepared for audits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70B1126-E3C1-408E-BAAE-C655DB3794BE}"/>
              </a:ext>
            </a:extLst>
          </p:cNvPr>
          <p:cNvSpPr/>
          <p:nvPr/>
        </p:nvSpPr>
        <p:spPr>
          <a:xfrm>
            <a:off x="8517145" y="797782"/>
            <a:ext cx="3674855" cy="1048839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Help AI help us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F5992B0-EFF5-D959-1E78-C27672DB932F}"/>
              </a:ext>
            </a:extLst>
          </p:cNvPr>
          <p:cNvSpPr/>
          <p:nvPr/>
        </p:nvSpPr>
        <p:spPr>
          <a:xfrm>
            <a:off x="8522393" y="4555198"/>
            <a:ext cx="2954658" cy="109524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Indirectly trigger actions to occur</a:t>
            </a:r>
          </a:p>
        </p:txBody>
      </p:sp>
      <p:sp>
        <p:nvSpPr>
          <p:cNvPr id="8" name="Arrow: U-Turn 7">
            <a:extLst>
              <a:ext uri="{FF2B5EF4-FFF2-40B4-BE49-F238E27FC236}">
                <a16:creationId xmlns:a16="http://schemas.microsoft.com/office/drawing/2014/main" id="{F4565D08-9B6E-A296-C089-B85A3E9B1E1A}"/>
              </a:ext>
            </a:extLst>
          </p:cNvPr>
          <p:cNvSpPr/>
          <p:nvPr/>
        </p:nvSpPr>
        <p:spPr>
          <a:xfrm rot="5400000">
            <a:off x="10662251" y="3969637"/>
            <a:ext cx="2284529" cy="619931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413332BC-01DC-6A10-9CB1-743277E82CA5}"/>
              </a:ext>
            </a:extLst>
          </p:cNvPr>
          <p:cNvSpPr/>
          <p:nvPr/>
        </p:nvSpPr>
        <p:spPr>
          <a:xfrm rot="684404">
            <a:off x="3085848" y="4169285"/>
            <a:ext cx="8913309" cy="39574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1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AC107-78E7-1AD9-0D67-AA41202A8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Similarities Between Dimensional and Relational</a:t>
            </a:r>
          </a:p>
        </p:txBody>
      </p:sp>
      <p:pic>
        <p:nvPicPr>
          <p:cNvPr id="19" name="Graphic 18" descr="Database">
            <a:extLst>
              <a:ext uri="{FF2B5EF4-FFF2-40B4-BE49-F238E27FC236}">
                <a16:creationId xmlns:a16="http://schemas.microsoft.com/office/drawing/2014/main" id="{D5608EB6-FFC3-51E1-128A-4592F6FD85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404" y="1737360"/>
            <a:ext cx="2376058" cy="2376058"/>
          </a:xfrm>
          <a:prstGeom prst="rect">
            <a:avLst/>
          </a:prstGeom>
        </p:spPr>
      </p:pic>
      <p:pic>
        <p:nvPicPr>
          <p:cNvPr id="5" name="Graphic 4" descr="Database">
            <a:extLst>
              <a:ext uri="{FF2B5EF4-FFF2-40B4-BE49-F238E27FC236}">
                <a16:creationId xmlns:a16="http://schemas.microsoft.com/office/drawing/2014/main" id="{4B5D62C2-D595-0958-BF6D-A76649BCBB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404" y="3857414"/>
            <a:ext cx="2376057" cy="23760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DAA44-A15E-9869-C24E-EB7893C56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2461" y="1845733"/>
            <a:ext cx="8093219" cy="4387737"/>
          </a:xfrm>
        </p:spPr>
        <p:txBody>
          <a:bodyPr>
            <a:noAutofit/>
          </a:bodyPr>
          <a:lstStyle/>
          <a:p>
            <a:r>
              <a:rPr lang="en-US" sz="1600" b="1" dirty="0"/>
              <a:t>Both are</a:t>
            </a:r>
            <a:r>
              <a:rPr lang="en-US" sz="1600" b="1" baseline="0" dirty="0"/>
              <a:t> data stored to be used</a:t>
            </a:r>
          </a:p>
          <a:p>
            <a:pPr lvl="1"/>
            <a:r>
              <a:rPr lang="en-US" sz="1600" baseline="0" dirty="0"/>
              <a:t>Often using the same data storage technologies</a:t>
            </a:r>
          </a:p>
          <a:p>
            <a:r>
              <a:rPr lang="en-US" sz="1600" b="1" baseline="0" dirty="0"/>
              <a:t>Both typically focus on table structures </a:t>
            </a:r>
          </a:p>
          <a:p>
            <a:pPr lvl="1"/>
            <a:r>
              <a:rPr lang="en-US" sz="1600" dirty="0"/>
              <a:t>Rows, Columns with Scalar Values</a:t>
            </a:r>
          </a:p>
          <a:p>
            <a:r>
              <a:rPr lang="en-US" sz="1600" b="1" dirty="0"/>
              <a:t>Some of the core skills involved </a:t>
            </a:r>
          </a:p>
          <a:p>
            <a:pPr lvl="1"/>
            <a:r>
              <a:rPr lang="en-US" sz="1600" dirty="0"/>
              <a:t>Relational Database Engines (Or something that behaves similarly)</a:t>
            </a:r>
          </a:p>
          <a:p>
            <a:pPr lvl="1"/>
            <a:r>
              <a:rPr lang="en-US" sz="1600" baseline="0" dirty="0"/>
              <a:t>SQL</a:t>
            </a:r>
          </a:p>
          <a:p>
            <a:r>
              <a:rPr lang="en-US" sz="1600" b="1" dirty="0"/>
              <a:t>Most important similarity</a:t>
            </a:r>
          </a:p>
          <a:p>
            <a:pPr lvl="1"/>
            <a:r>
              <a:rPr lang="en-US" sz="1600" dirty="0"/>
              <a:t>Organizations rely on data from relational and business intelligence systems to make important decisions</a:t>
            </a:r>
          </a:p>
          <a:p>
            <a:pPr lvl="1"/>
            <a:r>
              <a:rPr lang="en-US" sz="1600" dirty="0"/>
              <a:t>Data Quality is </a:t>
            </a:r>
            <a:r>
              <a:rPr lang="en-US" sz="1600" b="1" dirty="0"/>
              <a:t>ESSENTIAL</a:t>
            </a:r>
          </a:p>
          <a:p>
            <a:r>
              <a:rPr lang="en-US" sz="1800" b="1" dirty="0"/>
              <a:t>AI??</a:t>
            </a:r>
            <a:endParaRPr lang="en-US" sz="1800" dirty="0"/>
          </a:p>
          <a:p>
            <a:r>
              <a:rPr lang="en-US" sz="1600" b="1" i="1" dirty="0"/>
              <a:t>These similarities are often the start of issues…</a:t>
            </a:r>
          </a:p>
        </p:txBody>
      </p:sp>
    </p:spTree>
    <p:extLst>
      <p:ext uri="{BB962C8B-B14F-4D97-AF65-F5344CB8AC3E}">
        <p14:creationId xmlns:p14="http://schemas.microsoft.com/office/powerpoint/2010/main" val="246617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6BAEB-E618-772D-A4A0-AC76B6F2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4400" b="1">
                <a:solidFill>
                  <a:srgbClr val="FFFFFF"/>
                </a:solidFill>
              </a:rPr>
              <a:t>Difference: Purpose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1921E-4908-AD45-D17D-DD2797FAF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9124" y="461188"/>
            <a:ext cx="6836158" cy="6023434"/>
          </a:xfrm>
        </p:spPr>
        <p:txBody>
          <a:bodyPr anchor="ctr">
            <a:normAutofit fontScale="92500"/>
          </a:bodyPr>
          <a:lstStyle/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Relational – Core Business Functions</a:t>
            </a:r>
            <a:endParaRPr lang="en-US" sz="3200" dirty="0">
              <a:latin typeface="Calibri"/>
              <a:ea typeface="Calibri"/>
              <a:cs typeface="Calibri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Stores state information that reflects ongoing activities (such as sales and customer data). 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Data storage usually necessitates ACID compliance (Atomicity, Consistency, Isolation, Durability)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Commonly associated with transactional systems (OLTP)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Usually accessed through a predetermined interface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Dimensional – Analysis through time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Converting transactional data into actionable insights</a:t>
            </a:r>
            <a:endParaRPr lang="en-US" sz="24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</a:rPr>
              <a:t>Commonly thought of as analytics (OLAP)</a:t>
            </a:r>
            <a:endParaRPr lang="en-US" sz="24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Aimed at facilitating significant decision-making processes</a:t>
            </a:r>
            <a:endParaRPr lang="en-US" sz="24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Can include a computer interface or allow users to run queries directly using the database as an interface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4000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6CBCD-B846-1833-3401-A4114AB9B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shown: Lots and lots and lots of stuff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CA5AB85-4D87-C4C5-40B0-F821430E2B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8928069"/>
              </p:ext>
            </p:extLst>
          </p:nvPr>
        </p:nvGraphicFramePr>
        <p:xfrm>
          <a:off x="1348014" y="1148080"/>
          <a:ext cx="949597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1594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B04C-41D4-2288-A5B6-B23290475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 lvl="0"/>
            <a:r>
              <a:rPr lang="en-US"/>
              <a:t>Difference</a:t>
            </a:r>
            <a:r>
              <a:rPr lang="en-US" baseline="0"/>
              <a:t>: Th</a:t>
            </a:r>
            <a:r>
              <a:rPr lang="en-US"/>
              <a:t>e Data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02EF1-A632-922D-0F70-BCC152B7C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290050" cy="4725664"/>
          </a:xfrm>
        </p:spPr>
        <p:txBody>
          <a:bodyPr>
            <a:noAutofit/>
          </a:bodyPr>
          <a:lstStyle/>
          <a:p>
            <a:r>
              <a:rPr lang="en-US" sz="2200" b="1" dirty="0"/>
              <a:t>Relational: Live, frequently modified data</a:t>
            </a:r>
          </a:p>
          <a:p>
            <a:pPr lvl="1"/>
            <a:r>
              <a:rPr lang="en-US" sz="2000" dirty="0"/>
              <a:t>Generally, we keep all states/actions/</a:t>
            </a:r>
            <a:r>
              <a:rPr lang="en-US" sz="2000" dirty="0" err="1"/>
              <a:t>etc</a:t>
            </a:r>
            <a:r>
              <a:rPr lang="en-US" sz="2000" dirty="0"/>
              <a:t> that have occurred</a:t>
            </a:r>
          </a:p>
          <a:p>
            <a:pPr lvl="1"/>
            <a:r>
              <a:rPr lang="en-US" sz="2000" dirty="0"/>
              <a:t>With at least the data you need to serve users and keep work going</a:t>
            </a:r>
          </a:p>
          <a:p>
            <a:pPr lvl="1"/>
            <a:r>
              <a:rPr lang="en-US" sz="2000" dirty="0"/>
              <a:t>May even be the legal documentation for actions (which can change retention rules)</a:t>
            </a:r>
          </a:p>
          <a:p>
            <a:r>
              <a:rPr lang="en-US" sz="2200" b="1" dirty="0"/>
              <a:t>Dimensional: Typically a set of copies starting with relational (and other data)</a:t>
            </a:r>
          </a:p>
          <a:p>
            <a:pPr lvl="1"/>
            <a:r>
              <a:rPr lang="en-US" sz="2000" dirty="0"/>
              <a:t>Kimball had a </a:t>
            </a:r>
            <a:r>
              <a:rPr lang="en-US" sz="2000" dirty="0">
                <a:hlinkClick r:id="rId2"/>
              </a:rPr>
              <a:t>metaphor of a kitchen</a:t>
            </a:r>
            <a:r>
              <a:rPr lang="en-US" sz="2000" dirty="0"/>
              <a:t> with 3 areas:</a:t>
            </a:r>
          </a:p>
          <a:p>
            <a:pPr lvl="3"/>
            <a:r>
              <a:rPr lang="en-US" sz="2000" b="1" dirty="0"/>
              <a:t>Prep area</a:t>
            </a:r>
            <a:r>
              <a:rPr lang="en-US" sz="2000" dirty="0"/>
              <a:t>: no user access, but all the data you need to serve anyone</a:t>
            </a:r>
          </a:p>
          <a:p>
            <a:pPr lvl="3"/>
            <a:r>
              <a:rPr lang="en-US" sz="2000" b="1" dirty="0"/>
              <a:t>Chef table</a:t>
            </a:r>
            <a:r>
              <a:rPr lang="en-US" sz="2000" dirty="0"/>
              <a:t>: cleaned data, likely formatted. Some users get access, but it is a special, power user access only</a:t>
            </a:r>
          </a:p>
          <a:p>
            <a:pPr lvl="3"/>
            <a:r>
              <a:rPr lang="en-US" sz="2000" b="1" dirty="0"/>
              <a:t>Dining Room</a:t>
            </a:r>
            <a:r>
              <a:rPr lang="en-US" sz="2000" dirty="0"/>
              <a:t>: where data is served to the guests in the way they need it</a:t>
            </a:r>
          </a:p>
          <a:p>
            <a:pPr lvl="1"/>
            <a:r>
              <a:rPr lang="en-US" sz="2000" dirty="0"/>
              <a:t>Fabric has the </a:t>
            </a:r>
            <a:r>
              <a:rPr lang="en-US" sz="2000" dirty="0">
                <a:hlinkClick r:id="rId3"/>
              </a:rPr>
              <a:t>Medallion architecture</a:t>
            </a:r>
            <a:endParaRPr lang="en-US" sz="2000" dirty="0"/>
          </a:p>
          <a:p>
            <a:pPr lvl="1"/>
            <a:r>
              <a:rPr lang="en-US" sz="2000" dirty="0"/>
              <a:t>Biggest thing is you keep copies of ALL the data the user may WANT to access.</a:t>
            </a:r>
          </a:p>
          <a:p>
            <a:pPr lvl="2"/>
            <a:endParaRPr lang="en-US" sz="2000" dirty="0"/>
          </a:p>
        </p:txBody>
      </p:sp>
      <p:pic>
        <p:nvPicPr>
          <p:cNvPr id="7" name="Graphic 6" descr="Disk">
            <a:extLst>
              <a:ext uri="{FF2B5EF4-FFF2-40B4-BE49-F238E27FC236}">
                <a16:creationId xmlns:a16="http://schemas.microsoft.com/office/drawing/2014/main" id="{C5284162-21DB-D473-C7FD-838628FE67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4883" y="727"/>
            <a:ext cx="2869992" cy="286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1D99-815D-525F-B33C-3F27F4451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/>
              <a:t>Difference: Modeling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A38E6-3139-0CBB-A0D1-84017B72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67654"/>
            <a:ext cx="6454987" cy="4023360"/>
          </a:xfrm>
        </p:spPr>
        <p:txBody>
          <a:bodyPr>
            <a:normAutofit/>
          </a:bodyPr>
          <a:lstStyle/>
          <a:p>
            <a:r>
              <a:rPr lang="en-US" b="1" dirty="0"/>
              <a:t>Relational: </a:t>
            </a:r>
          </a:p>
          <a:p>
            <a:pPr lvl="1"/>
            <a:r>
              <a:rPr lang="en-US" dirty="0"/>
              <a:t>Things that exist</a:t>
            </a:r>
          </a:p>
          <a:p>
            <a:pPr lvl="1"/>
            <a:r>
              <a:rPr lang="en-US" dirty="0"/>
              <a:t>Basically store the memory of a something or some process</a:t>
            </a:r>
          </a:p>
          <a:p>
            <a:pPr lvl="1"/>
            <a:r>
              <a:rPr lang="en-US" dirty="0"/>
              <a:t>Goal is to match the design exactly to the customer’s real world</a:t>
            </a:r>
          </a:p>
          <a:p>
            <a:pPr lvl="1"/>
            <a:r>
              <a:rPr lang="en-US" dirty="0"/>
              <a:t>Can be very complex, if the customer’s needs are complex</a:t>
            </a:r>
          </a:p>
          <a:p>
            <a:pPr lvl="1"/>
            <a:r>
              <a:rPr lang="en-US" dirty="0"/>
              <a:t>Eliminate duplication to enhance integrity</a:t>
            </a:r>
          </a:p>
          <a:p>
            <a:r>
              <a:rPr lang="en-US" b="1" dirty="0"/>
              <a:t>Dimensional</a:t>
            </a:r>
          </a:p>
          <a:p>
            <a:pPr lvl="1"/>
            <a:r>
              <a:rPr lang="en-US" dirty="0"/>
              <a:t>Actions you want to quantify </a:t>
            </a:r>
          </a:p>
          <a:p>
            <a:pPr lvl="1"/>
            <a:r>
              <a:rPr lang="en-US" dirty="0"/>
              <a:t>Goal is to be able to answer the customer’s questions</a:t>
            </a:r>
          </a:p>
          <a:p>
            <a:pPr lvl="1"/>
            <a:r>
              <a:rPr lang="en-US" dirty="0"/>
              <a:t>Tuning your design to their needs is not simple</a:t>
            </a:r>
          </a:p>
          <a:p>
            <a:pPr lvl="1"/>
            <a:r>
              <a:rPr lang="en-US" dirty="0"/>
              <a:t>Allow duplication to enhance usability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77CBA767-A972-56D0-DE99-9B62E7B923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35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F3873-F695-5473-726A-B143E4670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04" y="263528"/>
            <a:ext cx="871342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Difference: Model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1C6F7-4818-6125-06D0-4A3584EA4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471" y="1821671"/>
            <a:ext cx="9707991" cy="3920577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b="1" dirty="0"/>
              <a:t>Relational</a:t>
            </a:r>
            <a:endParaRPr lang="en-US" b="1" dirty="0">
              <a:ea typeface="Calibri"/>
              <a:cs typeface="Calibri"/>
            </a:endParaRPr>
          </a:p>
          <a:p>
            <a:pPr marL="383540" lvl="1"/>
            <a:r>
              <a:rPr lang="en-US" dirty="0"/>
              <a:t>Based on Normalized Structures</a:t>
            </a:r>
            <a:endParaRPr lang="en-US" dirty="0">
              <a:ea typeface="Calibri"/>
              <a:cs typeface="Calibri"/>
            </a:endParaRPr>
          </a:p>
          <a:p>
            <a:pPr marL="383540" lvl="1"/>
            <a:r>
              <a:rPr lang="en-US" dirty="0"/>
              <a:t>Eliminates redundancies at all levels</a:t>
            </a:r>
            <a:endParaRPr lang="en-US" dirty="0">
              <a:ea typeface="Calibri"/>
              <a:cs typeface="Calibri"/>
            </a:endParaRPr>
          </a:p>
          <a:p>
            <a:pPr marL="383540" lvl="1"/>
            <a:r>
              <a:rPr lang="en-US" dirty="0"/>
              <a:t>Optimized for adding, modifying, and deleting data </a:t>
            </a:r>
            <a:r>
              <a:rPr lang="en-US" u="sng" dirty="0"/>
              <a:t>consistently</a:t>
            </a:r>
            <a:endParaRPr lang="en-US" u="sng" dirty="0">
              <a:ea typeface="Calibri"/>
              <a:cs typeface="Calibri"/>
            </a:endParaRPr>
          </a:p>
          <a:p>
            <a:pPr marL="383540" lvl="1"/>
            <a:r>
              <a:rPr lang="en-US" dirty="0"/>
              <a:t>Tables represent individual concepts (nouns) and relationships between them</a:t>
            </a:r>
            <a:endParaRPr lang="en-US" dirty="0">
              <a:ea typeface="Calibri"/>
              <a:cs typeface="Calibri"/>
            </a:endParaRPr>
          </a:p>
          <a:p>
            <a:pPr marL="90932"/>
            <a:r>
              <a:rPr lang="en-US" b="1" dirty="0"/>
              <a:t>Dimensional Modeling</a:t>
            </a:r>
            <a:endParaRPr lang="en-US" sz="2400" b="1" dirty="0"/>
          </a:p>
          <a:p>
            <a:pPr marL="383540" lvl="1"/>
            <a:r>
              <a:rPr lang="en-US" sz="2000" dirty="0"/>
              <a:t>Star Schema</a:t>
            </a:r>
            <a:endParaRPr lang="en-US" sz="2000" dirty="0">
              <a:ea typeface="Calibri"/>
              <a:cs typeface="Calibri"/>
            </a:endParaRPr>
          </a:p>
          <a:p>
            <a:pPr marL="566420" lvl="2"/>
            <a:r>
              <a:rPr lang="en-US" sz="1600" dirty="0"/>
              <a:t>Fact table: Basically a single answer to one or more core questions about an action (grain)</a:t>
            </a:r>
            <a:endParaRPr lang="en-US" sz="1600" dirty="0">
              <a:ea typeface="Calibri"/>
              <a:cs typeface="Calibri"/>
            </a:endParaRPr>
          </a:p>
          <a:p>
            <a:pPr marL="749300" lvl="3"/>
            <a:r>
              <a:rPr lang="en-US" sz="1600" dirty="0"/>
              <a:t>Measures: Numeric details you can aggregate on</a:t>
            </a:r>
            <a:endParaRPr lang="en-US" sz="1600" dirty="0">
              <a:ea typeface="Calibri"/>
              <a:cs typeface="Calibri"/>
            </a:endParaRPr>
          </a:p>
          <a:p>
            <a:pPr marL="749300" lvl="3"/>
            <a:r>
              <a:rPr lang="en-US" sz="1600" dirty="0"/>
              <a:t>Dimensions: Factors you can group the answers on</a:t>
            </a:r>
            <a:endParaRPr lang="en-US" sz="1600" dirty="0">
              <a:ea typeface="Calibri"/>
              <a:cs typeface="Calibri"/>
            </a:endParaRPr>
          </a:p>
          <a:p>
            <a:pPr marL="383540" lvl="1"/>
            <a:r>
              <a:rPr lang="en-US" sz="2000" dirty="0"/>
              <a:t>Dimension Tables: Tables for more complex dimensions</a:t>
            </a:r>
            <a:endParaRPr lang="en-US" sz="2000" dirty="0">
              <a:ea typeface="Calibri"/>
              <a:cs typeface="Calibri"/>
            </a:endParaRPr>
          </a:p>
          <a:p>
            <a:pPr marL="566420" lvl="2"/>
            <a:r>
              <a:rPr lang="en-US" sz="1600" dirty="0"/>
              <a:t>Snowflake Schema</a:t>
            </a:r>
            <a:endParaRPr lang="en-US" sz="1600" dirty="0">
              <a:ea typeface="Calibri"/>
              <a:cs typeface="Calibri"/>
            </a:endParaRPr>
          </a:p>
          <a:p>
            <a:pPr marL="749300" lvl="3"/>
            <a:r>
              <a:rPr lang="en-US" sz="1600" dirty="0"/>
              <a:t>Star Schema with some normalization in the dimensions</a:t>
            </a:r>
            <a:endParaRPr lang="en-US" sz="1600" dirty="0">
              <a:ea typeface="Calibri"/>
              <a:cs typeface="Calibri"/>
            </a:endParaRPr>
          </a:p>
          <a:p>
            <a:pPr marL="383540" lvl="1"/>
            <a:endParaRPr lang="en-US" sz="1600" dirty="0">
              <a:ea typeface="Calibri"/>
              <a:cs typeface="Calibri"/>
            </a:endParaRPr>
          </a:p>
          <a:p>
            <a:pPr marL="383540" lvl="1"/>
            <a:endParaRPr lang="en-US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303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8DD82D3-D002-45B0-B16A-82B3DA4EF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399529-8ABE-48FC-35CD-DECAAE80A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031" y="1100094"/>
            <a:ext cx="2867795" cy="1476882"/>
          </a:xfrm>
        </p:spPr>
        <p:txBody>
          <a:bodyPr anchor="ctr">
            <a:normAutofit/>
          </a:bodyPr>
          <a:lstStyle/>
          <a:p>
            <a:r>
              <a:rPr lang="en-US" sz="4500" b="1"/>
              <a:t>Warning: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F09C252-16FE-4557-AD6D-BB5CA7734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42053" y="1570271"/>
            <a:ext cx="0" cy="3200400"/>
          </a:xfrm>
          <a:prstGeom prst="line">
            <a:avLst/>
          </a:prstGeom>
          <a:ln w="31750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38EF2-224C-EF5A-5D01-E5FDFDF8E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9099" y="1933583"/>
            <a:ext cx="6895973" cy="247186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900" dirty="0"/>
              <a:t>The next examples are very simplistic and for a brief description only. Your actual designs will be a lot more complex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15B19B-E7BB-4060-B12F-3CDA8EF16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336792"/>
            <a:ext cx="12188825" cy="521208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Graphic 3" descr="Slippery">
            <a:extLst>
              <a:ext uri="{FF2B5EF4-FFF2-40B4-BE49-F238E27FC236}">
                <a16:creationId xmlns:a16="http://schemas.microsoft.com/office/drawing/2014/main" id="{C634D87F-5DF3-75E9-37D7-EDB48CE376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132" y="1166315"/>
            <a:ext cx="3200400" cy="3200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2804B8-6B11-DC90-FA32-C1742140214F}"/>
              </a:ext>
            </a:extLst>
          </p:cNvPr>
          <p:cNvSpPr txBox="1"/>
          <p:nvPr/>
        </p:nvSpPr>
        <p:spPr>
          <a:xfrm>
            <a:off x="4347172" y="4769668"/>
            <a:ext cx="67116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(Or your users will be very frustrated with you!)</a:t>
            </a:r>
          </a:p>
        </p:txBody>
      </p:sp>
    </p:spTree>
    <p:extLst>
      <p:ext uri="{BB962C8B-B14F-4D97-AF65-F5344CB8AC3E}">
        <p14:creationId xmlns:p14="http://schemas.microsoft.com/office/powerpoint/2010/main" val="280200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6E6FEC8-170C-492C-84E0-54394629D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E940A1-B9E0-4C5D-A55E-B19742379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C8E47B-A563-4B44-A9B0-9316605C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9CEF278-62C5-49CA-8BD9-BCDBE9977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6" y="0"/>
            <a:ext cx="458473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88E67-37BB-0E51-7C1D-6BEC6C4BA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Model Example </a:t>
            </a:r>
            <a:r>
              <a:rPr lang="en-US" sz="4400" b="1">
                <a:solidFill>
                  <a:srgbClr val="FFFFFF"/>
                </a:solidFill>
              </a:rPr>
              <a:t>Relational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68C66-2F9A-389F-430E-5959A70E6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31000"/>
                    </a14:imgEffect>
                  </a14:imgLayer>
                </a14:imgProps>
              </a:ext>
            </a:extLst>
          </a:blip>
          <a:srcRect l="5441" r="4594"/>
          <a:stretch/>
        </p:blipFill>
        <p:spPr>
          <a:xfrm>
            <a:off x="4724456" y="77070"/>
            <a:ext cx="7388686" cy="6180177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2E2466B-276C-423A-9377-78508D6A0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5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25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CA4C0-0F9F-0D90-C81F-516CA637E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8BE48C64-5364-4060-8928-FC052E77C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9F791B-8515-4F50-9D32-45DD7676C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66A6F95-73C3-44EC-9D80-3131D2D86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A04B113-9C71-4645-B2B0-6C6E7B17C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115AD00-405D-4A85-8201-260CF683D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DED07-078C-C65D-E964-4C03D0B67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Model Example </a:t>
            </a:r>
            <a:r>
              <a:rPr lang="en-US" sz="4400" b="1">
                <a:solidFill>
                  <a:srgbClr val="FFFFFF"/>
                </a:solidFill>
              </a:rPr>
              <a:t>Dimensional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29C476-8F84-427E-8917-CE08130A0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245C3F-C34A-1619-104B-D65D76B764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9073" y="1229710"/>
            <a:ext cx="7313983" cy="439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27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4CCD7-F319-A485-46CC-4A5C90370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1A978AA-7672-42C4-B5ED-55539D564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938393-3C03-4A4C-9BEF-927DC2366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92A857-B226-45FB-955B-CBB2C1B53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3215640" cy="6858000"/>
          </a:xfrm>
          <a:prstGeom prst="rect">
            <a:avLst/>
          </a:prstGeom>
          <a:solidFill>
            <a:schemeClr val="bg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7DD39-A9F0-D0FB-8AE6-5752B19EA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656" y="2648607"/>
            <a:ext cx="2893907" cy="3451075"/>
          </a:xfrm>
        </p:spPr>
        <p:txBody>
          <a:bodyPr anchor="t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Difference: </a:t>
            </a:r>
            <a:r>
              <a:rPr lang="en-US" b="1">
                <a:solidFill>
                  <a:srgbClr val="FFFFFF"/>
                </a:solidFill>
              </a:rPr>
              <a:t>“Usually”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7AB63-91E5-D627-4A14-7DFE66600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2742" y="258668"/>
            <a:ext cx="6800812" cy="5082806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sz="2500" dirty="0">
                <a:solidFill>
                  <a:srgbClr val="FFFFFF"/>
                </a:solidFill>
              </a:rPr>
              <a:t>"Usually"</a:t>
            </a:r>
          </a:p>
          <a:p>
            <a:pPr marL="383540" lvl="1"/>
            <a:r>
              <a:rPr lang="en-US" sz="2500" dirty="0">
                <a:solidFill>
                  <a:srgbClr val="FFFFFF"/>
                </a:solidFill>
              </a:rPr>
              <a:t>Does not apply: Relational Designs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383540" lvl="1"/>
            <a:r>
              <a:rPr lang="en-US" sz="2500" dirty="0">
                <a:solidFill>
                  <a:srgbClr val="FFFFFF"/>
                </a:solidFill>
              </a:rPr>
              <a:t>Does apply: Business Intelligence Designs</a:t>
            </a:r>
            <a:endParaRPr lang="en-US" sz="2500" dirty="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 marL="383540" lvl="1"/>
            <a:endParaRPr lang="en-US" sz="2500" dirty="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sz="2500" dirty="0">
                <a:solidFill>
                  <a:srgbClr val="FFFFFF"/>
                </a:solidFill>
              </a:rPr>
              <a:t>Example “Our orders </a:t>
            </a:r>
            <a:r>
              <a:rPr lang="en-US" sz="2500" b="1" i="1" dirty="0">
                <a:solidFill>
                  <a:srgbClr val="FFFFFF"/>
                </a:solidFill>
              </a:rPr>
              <a:t>usually</a:t>
            </a:r>
            <a:r>
              <a:rPr lang="en-US" sz="2500" dirty="0">
                <a:solidFill>
                  <a:srgbClr val="FFFFFF"/>
                </a:solidFill>
              </a:rPr>
              <a:t> only have one item per order”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endParaRPr lang="en-US" sz="2500" dirty="0">
              <a:solidFill>
                <a:srgbClr val="FFFFFF"/>
              </a:solidFill>
            </a:endParaRPr>
          </a:p>
          <a:p>
            <a:pPr marL="383540" lvl="1"/>
            <a:r>
              <a:rPr lang="en-US" sz="2500" dirty="0">
                <a:solidFill>
                  <a:srgbClr val="FFFFFF"/>
                </a:solidFill>
              </a:rPr>
              <a:t>Relational: 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566420" lvl="2"/>
            <a:r>
              <a:rPr lang="en-US" sz="2500" dirty="0">
                <a:solidFill>
                  <a:srgbClr val="FFFFFF"/>
                </a:solidFill>
              </a:rPr>
              <a:t>If it CAN occur, it MUST be in the model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566420" lvl="2"/>
            <a:r>
              <a:rPr lang="en-US" sz="2500" dirty="0">
                <a:solidFill>
                  <a:srgbClr val="FFFFFF"/>
                </a:solidFill>
              </a:rPr>
              <a:t>We never model separate structures for the “exceptions”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383540" lvl="1"/>
            <a:r>
              <a:rPr lang="en-US" sz="2500" dirty="0">
                <a:solidFill>
                  <a:srgbClr val="FFFFFF"/>
                </a:solidFill>
              </a:rPr>
              <a:t>Dimensional: 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566420" lvl="2"/>
            <a:r>
              <a:rPr lang="en-US" sz="2500" dirty="0">
                <a:solidFill>
                  <a:srgbClr val="FFFFFF"/>
                </a:solidFill>
              </a:rPr>
              <a:t>Make sure questions can be answered correctly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566420" lvl="2"/>
            <a:r>
              <a:rPr lang="en-US" sz="2500" dirty="0">
                <a:solidFill>
                  <a:srgbClr val="FFFFFF"/>
                </a:solidFill>
              </a:rPr>
              <a:t>Different questions using the same data MAY result in new structures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383540" lvl="2" indent="0">
              <a:buNone/>
            </a:pP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060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F4679-96CF-7D21-0F65-77EC7C89D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/>
              <a:t>Difference: Normalization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F3C57-A4D1-D2A6-AC24-B7637715CF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68" r="20597" b="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B6DAC-F052-F8CB-144C-C0C6A56FD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658302" cy="4135402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b="1" dirty="0"/>
              <a:t>I don’t like the notion that Dimensional Models are "DENORMALIZED"</a:t>
            </a:r>
          </a:p>
          <a:p>
            <a:r>
              <a:rPr lang="en-US" dirty="0"/>
              <a:t>Both typically do First (and arguably Second) Normal Form</a:t>
            </a:r>
            <a:endParaRPr lang="en-US" dirty="0">
              <a:ea typeface="Calibri"/>
              <a:cs typeface="Calibri"/>
            </a:endParaRPr>
          </a:p>
          <a:p>
            <a:pPr marL="383540" lvl="1"/>
            <a:r>
              <a:rPr lang="en-US" sz="2000" dirty="0"/>
              <a:t>Each table represents one concept</a:t>
            </a:r>
            <a:endParaRPr lang="en-US" sz="2000" dirty="0">
              <a:ea typeface="Calibri"/>
              <a:cs typeface="Calibri"/>
            </a:endParaRPr>
          </a:p>
          <a:p>
            <a:pPr marL="383540" lvl="1"/>
            <a:r>
              <a:rPr lang="en-US" sz="2000" dirty="0"/>
              <a:t>Each row represents one unique example of that concept</a:t>
            </a:r>
            <a:endParaRPr lang="en-US" sz="2000" dirty="0">
              <a:ea typeface="Calibri"/>
              <a:cs typeface="Calibri"/>
            </a:endParaRPr>
          </a:p>
          <a:p>
            <a:pPr marL="383540" lvl="1"/>
            <a:r>
              <a:rPr lang="en-US" sz="2000" dirty="0"/>
              <a:t>Each column represents one aspect about what the row represents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dirty="0"/>
              <a:t>From there, they diverge:</a:t>
            </a:r>
            <a:endParaRPr lang="en-US" dirty="0">
              <a:ea typeface="Calibri"/>
              <a:cs typeface="Calibri"/>
            </a:endParaRPr>
          </a:p>
          <a:p>
            <a:pPr marL="383540" lvl="1"/>
            <a:r>
              <a:rPr lang="en-US" sz="2000" b="1" dirty="0"/>
              <a:t>Relational</a:t>
            </a:r>
            <a:r>
              <a:rPr lang="en-US" sz="2000" dirty="0"/>
              <a:t>: All about breaking things down and avoiding duplication</a:t>
            </a:r>
            <a:endParaRPr lang="en-US" sz="2000" dirty="0">
              <a:ea typeface="Calibri"/>
              <a:cs typeface="Calibri"/>
            </a:endParaRPr>
          </a:p>
          <a:p>
            <a:pPr marL="383540" lvl="1"/>
            <a:r>
              <a:rPr lang="en-US" sz="2000" b="1" dirty="0"/>
              <a:t>Dimensional</a:t>
            </a:r>
            <a:r>
              <a:rPr lang="en-US" sz="2000" dirty="0"/>
              <a:t>: Answering the questions easily and quickly is what matters. Controlled duplication is acceptable, even desirable.</a:t>
            </a:r>
            <a:endParaRPr lang="en-US" sz="2000" dirty="0">
              <a:ea typeface="Calibri"/>
              <a:cs typeface="Calibr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39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66E2D-A696-9FD5-54C8-19A9EB32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23ACC-65E0-0521-C167-2533A106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648" y="1144577"/>
            <a:ext cx="3255580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My Biggest Mistake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E85DE1-074B-DD1B-1BE8-DE62132010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899" r="2" b="5068"/>
          <a:stretch/>
        </p:blipFill>
        <p:spPr>
          <a:xfrm>
            <a:off x="4639733" y="10"/>
            <a:ext cx="755226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6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D1018BC-F0EA-4895-B18C-FE08F3CA6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9A0018-C4EF-461D-9DE6-9192642C9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5C1BFE-400F-0637-57EE-0D6B9C26C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52936"/>
            <a:ext cx="10058400" cy="1028715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In conclusion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C4DCA-385E-4F8B-8F52-F574431CA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780B9B-2E8D-AE49-6042-4827008749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87261"/>
              </p:ext>
            </p:extLst>
          </p:nvPr>
        </p:nvGraphicFramePr>
        <p:xfrm>
          <a:off x="624511" y="208505"/>
          <a:ext cx="10900477" cy="4470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414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4EDDF-4B00-455A-BEAE-D773FB144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That’s it, time to wake up..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DF7AF-92BC-8C6A-F1D7-9AF945F80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74" y="1852448"/>
            <a:ext cx="8036396" cy="439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01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 Contact info..</a:t>
            </a:r>
          </a:p>
        </p:txBody>
      </p:sp>
      <p:sp>
        <p:nvSpPr>
          <p:cNvPr id="115715" name="Rectangle 3"/>
          <p:cNvSpPr>
            <a:spLocks noGrp="1"/>
          </p:cNvSpPr>
          <p:nvPr>
            <p:ph idx="1"/>
          </p:nvPr>
        </p:nvSpPr>
        <p:spPr>
          <a:xfrm>
            <a:off x="1174531" y="1771651"/>
            <a:ext cx="9645870" cy="4525963"/>
          </a:xfrm>
        </p:spPr>
        <p:txBody>
          <a:bodyPr>
            <a:normAutofit/>
          </a:bodyPr>
          <a:lstStyle/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Louis Davidson – </a:t>
            </a:r>
            <a:r>
              <a:rPr lang="en-US" b="1" dirty="0">
                <a:hlinkClick r:id="rId3"/>
              </a:rPr>
              <a:t>louis@drsql.org</a:t>
            </a:r>
            <a:r>
              <a:rPr lang="en-US" b="1" dirty="0"/>
              <a:t>	</a:t>
            </a:r>
          </a:p>
          <a:p>
            <a:r>
              <a:rPr lang="en-US" b="1" dirty="0"/>
              <a:t>Website – </a:t>
            </a:r>
            <a:r>
              <a:rPr lang="en-US" b="1" dirty="0">
                <a:hlinkClick r:id="rId4"/>
              </a:rPr>
              <a:t>http://drsql.link</a:t>
            </a:r>
            <a:r>
              <a:rPr lang="en-US" b="1" dirty="0"/>
              <a:t> </a:t>
            </a:r>
          </a:p>
          <a:p>
            <a:pPr lvl="1"/>
            <a:r>
              <a:rPr lang="en-US" b="1" dirty="0">
                <a:sym typeface="Wingdings" pitchFamily="2" charset="2"/>
              </a:rPr>
              <a:t>Get slides here: </a:t>
            </a:r>
            <a:r>
              <a:rPr lang="en-US" b="1" dirty="0">
                <a:sym typeface="Wingdings" pitchFamily="2" charset="2"/>
                <a:hlinkClick r:id="rId5"/>
              </a:rPr>
              <a:t>https://drsql.link/presentations</a:t>
            </a:r>
            <a:r>
              <a:rPr lang="en-US" b="1" dirty="0">
                <a:sym typeface="Wingdings" pitchFamily="2" charset="2"/>
              </a:rPr>
              <a:t> </a:t>
            </a:r>
            <a:endParaRPr lang="en-US" b="1" dirty="0"/>
          </a:p>
          <a:p>
            <a:r>
              <a:rPr lang="en-US" b="1" dirty="0"/>
              <a:t>Blog – </a:t>
            </a:r>
            <a:r>
              <a:rPr lang="en-US" b="1" dirty="0">
                <a:hlinkClick r:id="rId6"/>
              </a:rPr>
              <a:t>https://drsql.link</a:t>
            </a:r>
            <a:r>
              <a:rPr lang="en-US" b="1" dirty="0"/>
              <a:t> </a:t>
            </a:r>
          </a:p>
          <a:p>
            <a:r>
              <a:rPr lang="en-US" b="1" dirty="0"/>
              <a:t>LinkedIn – </a:t>
            </a:r>
            <a:r>
              <a:rPr lang="en-US" b="1" dirty="0">
                <a:hlinkClick r:id="rId7"/>
              </a:rPr>
              <a:t>https://linkedin.com/in/louisdavidson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345684C-D765-F131-BE55-86B5B95E0875}"/>
              </a:ext>
            </a:extLst>
          </p:cNvPr>
          <p:cNvSpPr/>
          <p:nvPr/>
        </p:nvSpPr>
        <p:spPr>
          <a:xfrm>
            <a:off x="7260772" y="3729531"/>
            <a:ext cx="91440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Generated QR Image">
            <a:extLst>
              <a:ext uri="{FF2B5EF4-FFF2-40B4-BE49-F238E27FC236}">
                <a16:creationId xmlns:a16="http://schemas.microsoft.com/office/drawing/2014/main" id="{78CAD375-C7B1-E8DA-A791-3BD8A8AB2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7975" y="2396491"/>
            <a:ext cx="272415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829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2999" y="2863264"/>
            <a:ext cx="10239703" cy="1470025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689838-DAD4-7A9C-52CC-8E732A3123F7}"/>
              </a:ext>
            </a:extLst>
          </p:cNvPr>
          <p:cNvSpPr txBox="1"/>
          <p:nvPr/>
        </p:nvSpPr>
        <p:spPr>
          <a:xfrm>
            <a:off x="8035159" y="4473667"/>
            <a:ext cx="4449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ym typeface="Wingdings" pitchFamily="2" charset="2"/>
                <a:hlinkClick r:id="rId2"/>
              </a:rPr>
              <a:t>https://drsql.link/presentations</a:t>
            </a:r>
            <a:r>
              <a:rPr lang="en-US" dirty="0">
                <a:sym typeface="Wingdings" pitchFamily="2" charset="2"/>
              </a:rPr>
              <a:t> </a:t>
            </a:r>
            <a:endParaRPr lang="en-US" dirty="0"/>
          </a:p>
        </p:txBody>
      </p:sp>
      <p:pic>
        <p:nvPicPr>
          <p:cNvPr id="2050" name="Picture 2" descr="Generated QR Image">
            <a:extLst>
              <a:ext uri="{FF2B5EF4-FFF2-40B4-BE49-F238E27FC236}">
                <a16:creationId xmlns:a16="http://schemas.microsoft.com/office/drawing/2014/main" id="{E68676A4-094A-4D83-CB1F-6970C964A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257" y="1511904"/>
            <a:ext cx="2702719" cy="2702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14405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111</TotalTime>
  <Words>1268</Words>
  <Application>Microsoft Office PowerPoint</Application>
  <PresentationFormat>Widescreen</PresentationFormat>
  <Paragraphs>182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Calibri Light</vt:lpstr>
      <vt:lpstr>Wingdings</vt:lpstr>
      <vt:lpstr>Retrospect</vt:lpstr>
      <vt:lpstr>Office Theme</vt:lpstr>
      <vt:lpstr>Dimensional and Relational Design Differences</vt:lpstr>
      <vt:lpstr>Bit of a warning…</vt:lpstr>
      <vt:lpstr>And now… on with the show!</vt:lpstr>
      <vt:lpstr>Who Am I?</vt:lpstr>
      <vt:lpstr>My background</vt:lpstr>
      <vt:lpstr>PowerPoint Presentation</vt:lpstr>
      <vt:lpstr>My non-tech hobby: Instagram: @figmentsintime</vt:lpstr>
      <vt:lpstr>My professional background</vt:lpstr>
      <vt:lpstr>Why do we build databases to start with?</vt:lpstr>
      <vt:lpstr>Similarities Between Dimensional and Relational</vt:lpstr>
      <vt:lpstr>Difference: Purpose</vt:lpstr>
      <vt:lpstr>Not shown: Lots and lots and lots of stuff</vt:lpstr>
      <vt:lpstr>Difference: The Data Lifecycle</vt:lpstr>
      <vt:lpstr>Difference: Modeling approach</vt:lpstr>
      <vt:lpstr>Difference: Model Structures</vt:lpstr>
      <vt:lpstr>Warning:</vt:lpstr>
      <vt:lpstr>Model Example Relational</vt:lpstr>
      <vt:lpstr>Model Example Dimensional</vt:lpstr>
      <vt:lpstr>Difference: “Usually”</vt:lpstr>
      <vt:lpstr>Difference: Normalization</vt:lpstr>
      <vt:lpstr>My Biggest Mistake</vt:lpstr>
      <vt:lpstr>In conclusion</vt:lpstr>
      <vt:lpstr>That’s it, time to wake up..</vt:lpstr>
      <vt:lpstr>Questions? Contact info..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versus Relational Design</dc:title>
  <dc:creator>Louis Davidson</dc:creator>
  <cp:lastModifiedBy>Louis Davidson</cp:lastModifiedBy>
  <cp:revision>41</cp:revision>
  <dcterms:created xsi:type="dcterms:W3CDTF">2025-02-08T22:44:31Z</dcterms:created>
  <dcterms:modified xsi:type="dcterms:W3CDTF">2026-06-01T13:06:36Z</dcterms:modified>
</cp:coreProperties>
</file>