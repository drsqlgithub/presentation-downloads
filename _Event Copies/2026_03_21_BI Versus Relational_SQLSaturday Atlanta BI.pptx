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1"/>
  </p:notesMasterIdLst>
  <p:sldIdLst>
    <p:sldId id="256" r:id="rId3"/>
    <p:sldId id="622" r:id="rId4"/>
    <p:sldId id="261" r:id="rId5"/>
    <p:sldId id="624" r:id="rId6"/>
    <p:sldId id="625" r:id="rId7"/>
    <p:sldId id="264" r:id="rId8"/>
    <p:sldId id="262" r:id="rId9"/>
    <p:sldId id="540" r:id="rId10"/>
    <p:sldId id="257" r:id="rId11"/>
    <p:sldId id="621" r:id="rId12"/>
    <p:sldId id="611" r:id="rId13"/>
    <p:sldId id="619" r:id="rId14"/>
    <p:sldId id="545" r:id="rId15"/>
    <p:sldId id="263" r:id="rId16"/>
    <p:sldId id="613" r:id="rId17"/>
    <p:sldId id="267" r:id="rId18"/>
    <p:sldId id="266" r:id="rId19"/>
    <p:sldId id="615" r:id="rId20"/>
    <p:sldId id="265" r:id="rId21"/>
    <p:sldId id="618" r:id="rId22"/>
    <p:sldId id="620" r:id="rId23"/>
    <p:sldId id="614" r:id="rId24"/>
    <p:sldId id="268" r:id="rId25"/>
    <p:sldId id="612" r:id="rId26"/>
    <p:sldId id="616" r:id="rId27"/>
    <p:sldId id="617" r:id="rId28"/>
    <p:sldId id="513" r:id="rId29"/>
    <p:sldId id="51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D82340-7524-4094-993C-675222D88B53}" v="258" dt="2026-03-21T02:36:13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son, Louis" userId="1e9fb052-0758-4f58-97c2-53dae8166b4e" providerId="ADAL" clId="{C02D0E78-79A1-46E4-9F52-4179D9505664}"/>
    <pc:docChg chg="undo custSel addSld delSld modSld">
      <pc:chgData name="Davidson, Louis" userId="1e9fb052-0758-4f58-97c2-53dae8166b4e" providerId="ADAL" clId="{C02D0E78-79A1-46E4-9F52-4179D9505664}" dt="2026-03-21T02:36:13.029" v="402" actId="1076"/>
      <pc:docMkLst>
        <pc:docMk/>
      </pc:docMkLst>
      <pc:sldChg chg="modSp mod">
        <pc:chgData name="Davidson, Louis" userId="1e9fb052-0758-4f58-97c2-53dae8166b4e" providerId="ADAL" clId="{C02D0E78-79A1-46E4-9F52-4179D9505664}" dt="2026-02-26T00:58:22.193" v="34" actId="6549"/>
        <pc:sldMkLst>
          <pc:docMk/>
          <pc:sldMk cId="3013900184" sldId="256"/>
        </pc:sldMkLst>
        <pc:spChg chg="mod">
          <ac:chgData name="Davidson, Louis" userId="1e9fb052-0758-4f58-97c2-53dae8166b4e" providerId="ADAL" clId="{C02D0E78-79A1-46E4-9F52-4179D9505664}" dt="2026-02-26T00:58:22.193" v="34" actId="6549"/>
          <ac:spMkLst>
            <pc:docMk/>
            <pc:sldMk cId="3013900184" sldId="256"/>
            <ac:spMk id="2" creationId="{84713F96-10E6-7EA9-471D-D769A10B7E8F}"/>
          </ac:spMkLst>
        </pc:spChg>
      </pc:sldChg>
      <pc:sldChg chg="add setBg">
        <pc:chgData name="Davidson, Louis" userId="1e9fb052-0758-4f58-97c2-53dae8166b4e" providerId="ADAL" clId="{C02D0E78-79A1-46E4-9F52-4179D9505664}" dt="2026-03-21T01:21:39.649" v="333"/>
        <pc:sldMkLst>
          <pc:docMk/>
          <pc:sldMk cId="1729477822" sldId="261"/>
        </pc:sldMkLst>
      </pc:sldChg>
      <pc:sldChg chg="modSp mod modAnim">
        <pc:chgData name="Davidson, Louis" userId="1e9fb052-0758-4f58-97c2-53dae8166b4e" providerId="ADAL" clId="{C02D0E78-79A1-46E4-9F52-4179D9505664}" dt="2026-03-16T23:25:03.453" v="197" actId="20577"/>
        <pc:sldMkLst>
          <pc:docMk/>
          <pc:sldMk cId="2466170329" sldId="263"/>
        </pc:sldMkLst>
        <pc:spChg chg="mod">
          <ac:chgData name="Davidson, Louis" userId="1e9fb052-0758-4f58-97c2-53dae8166b4e" providerId="ADAL" clId="{C02D0E78-79A1-46E4-9F52-4179D9505664}" dt="2026-03-16T23:25:03.453" v="197" actId="20577"/>
          <ac:spMkLst>
            <pc:docMk/>
            <pc:sldMk cId="2466170329" sldId="263"/>
            <ac:spMk id="2" creationId="{75BAC107-78E7-1AD9-0D67-AA41202A8C37}"/>
          </ac:spMkLst>
        </pc:spChg>
        <pc:spChg chg="mod">
          <ac:chgData name="Davidson, Louis" userId="1e9fb052-0758-4f58-97c2-53dae8166b4e" providerId="ADAL" clId="{C02D0E78-79A1-46E4-9F52-4179D9505664}" dt="2026-03-16T23:23:39.977" v="159" actId="20577"/>
          <ac:spMkLst>
            <pc:docMk/>
            <pc:sldMk cId="2466170329" sldId="263"/>
            <ac:spMk id="3" creationId="{DE2DAA44-A15E-9869-C24E-EB7893C5651A}"/>
          </ac:spMkLst>
        </pc:spChg>
      </pc:sldChg>
      <pc:sldChg chg="modSp mod">
        <pc:chgData name="Davidson, Louis" userId="1e9fb052-0758-4f58-97c2-53dae8166b4e" providerId="ADAL" clId="{C02D0E78-79A1-46E4-9F52-4179D9505664}" dt="2026-03-16T23:18:05.719" v="132" actId="20577"/>
        <pc:sldMkLst>
          <pc:docMk/>
          <pc:sldMk cId="1009196265" sldId="264"/>
        </pc:sldMkLst>
        <pc:spChg chg="mod">
          <ac:chgData name="Davidson, Louis" userId="1e9fb052-0758-4f58-97c2-53dae8166b4e" providerId="ADAL" clId="{C02D0E78-79A1-46E4-9F52-4179D9505664}" dt="2026-03-16T23:18:05.719" v="132" actId="20577"/>
          <ac:spMkLst>
            <pc:docMk/>
            <pc:sldMk cId="1009196265" sldId="264"/>
            <ac:spMk id="3" creationId="{B9DEF34A-DA35-945D-F57F-285A0C8B56F0}"/>
          </ac:spMkLst>
        </pc:spChg>
      </pc:sldChg>
      <pc:sldChg chg="modSp">
        <pc:chgData name="Davidson, Louis" userId="1e9fb052-0758-4f58-97c2-53dae8166b4e" providerId="ADAL" clId="{C02D0E78-79A1-46E4-9F52-4179D9505664}" dt="2026-03-16T23:27:09.781" v="299" actId="20577"/>
        <pc:sldMkLst>
          <pc:docMk/>
          <pc:sldMk cId="3044535086" sldId="266"/>
        </pc:sldMkLst>
        <pc:spChg chg="mod">
          <ac:chgData name="Davidson, Louis" userId="1e9fb052-0758-4f58-97c2-53dae8166b4e" providerId="ADAL" clId="{C02D0E78-79A1-46E4-9F52-4179D9505664}" dt="2026-03-16T23:27:09.781" v="299" actId="20577"/>
          <ac:spMkLst>
            <pc:docMk/>
            <pc:sldMk cId="3044535086" sldId="266"/>
            <ac:spMk id="3" creationId="{216A38E6-3139-0CBB-A0D1-84017B724BC0}"/>
          </ac:spMkLst>
        </pc:spChg>
      </pc:sldChg>
      <pc:sldChg chg="modSp">
        <pc:chgData name="Davidson, Louis" userId="1e9fb052-0758-4f58-97c2-53dae8166b4e" providerId="ADAL" clId="{C02D0E78-79A1-46E4-9F52-4179D9505664}" dt="2026-03-16T23:26:58.486" v="288" actId="20577"/>
        <pc:sldMkLst>
          <pc:docMk/>
          <pc:sldMk cId="87735207" sldId="267"/>
        </pc:sldMkLst>
        <pc:spChg chg="mod">
          <ac:chgData name="Davidson, Louis" userId="1e9fb052-0758-4f58-97c2-53dae8166b4e" providerId="ADAL" clId="{C02D0E78-79A1-46E4-9F52-4179D9505664}" dt="2026-03-16T23:26:58.486" v="288" actId="20577"/>
          <ac:spMkLst>
            <pc:docMk/>
            <pc:sldMk cId="87735207" sldId="267"/>
            <ac:spMk id="3" creationId="{0C402EF1-A632-922D-0F70-BCC152B7CF65}"/>
          </ac:spMkLst>
        </pc:spChg>
      </pc:sldChg>
      <pc:sldChg chg="modSp">
        <pc:chgData name="Davidson, Louis" userId="1e9fb052-0758-4f58-97c2-53dae8166b4e" providerId="ADAL" clId="{C02D0E78-79A1-46E4-9F52-4179D9505664}" dt="2026-03-21T02:24:13.257" v="378" actId="20577"/>
        <pc:sldMkLst>
          <pc:docMk/>
          <pc:sldMk cId="1146398831" sldId="268"/>
        </pc:sldMkLst>
        <pc:spChg chg="mod">
          <ac:chgData name="Davidson, Louis" userId="1e9fb052-0758-4f58-97c2-53dae8166b4e" providerId="ADAL" clId="{C02D0E78-79A1-46E4-9F52-4179D9505664}" dt="2026-03-21T02:24:13.257" v="378" actId="20577"/>
          <ac:spMkLst>
            <pc:docMk/>
            <pc:sldMk cId="1146398831" sldId="268"/>
            <ac:spMk id="3" creationId="{428B6DAC-F052-F8CB-144C-C0C6A56FDC61}"/>
          </ac:spMkLst>
        </pc:spChg>
      </pc:sldChg>
      <pc:sldChg chg="modSp mod modAnim">
        <pc:chgData name="Davidson, Louis" userId="1e9fb052-0758-4f58-97c2-53dae8166b4e" providerId="ADAL" clId="{C02D0E78-79A1-46E4-9F52-4179D9505664}" dt="2026-03-21T02:36:13.029" v="402" actId="1076"/>
        <pc:sldMkLst>
          <pc:docMk/>
          <pc:sldMk cId="2469829145" sldId="513"/>
        </pc:sldMkLst>
        <pc:spChg chg="mod">
          <ac:chgData name="Davidson, Louis" userId="1e9fb052-0758-4f58-97c2-53dae8166b4e" providerId="ADAL" clId="{C02D0E78-79A1-46E4-9F52-4179D9505664}" dt="2026-03-21T02:36:10.510" v="401" actId="1076"/>
          <ac:spMkLst>
            <pc:docMk/>
            <pc:sldMk cId="2469829145" sldId="513"/>
            <ac:spMk id="7" creationId="{0345684C-D765-F131-BE55-86B5B95E0875}"/>
          </ac:spMkLst>
        </pc:spChg>
        <pc:spChg chg="mod">
          <ac:chgData name="Davidson, Louis" userId="1e9fb052-0758-4f58-97c2-53dae8166b4e" providerId="ADAL" clId="{C02D0E78-79A1-46E4-9F52-4179D9505664}" dt="2026-03-21T02:36:00.535" v="400" actId="20577"/>
          <ac:spMkLst>
            <pc:docMk/>
            <pc:sldMk cId="2469829145" sldId="513"/>
            <ac:spMk id="115715" creationId="{00000000-0000-0000-0000-000000000000}"/>
          </ac:spMkLst>
        </pc:spChg>
        <pc:picChg chg="mod">
          <ac:chgData name="Davidson, Louis" userId="1e9fb052-0758-4f58-97c2-53dae8166b4e" providerId="ADAL" clId="{C02D0E78-79A1-46E4-9F52-4179D9505664}" dt="2026-03-21T02:36:13.029" v="402" actId="1076"/>
          <ac:picMkLst>
            <pc:docMk/>
            <pc:sldMk cId="2469829145" sldId="513"/>
            <ac:picMk id="3" creationId="{78CAD375-C7B1-E8DA-A791-3BD8A8AB2460}"/>
          </ac:picMkLst>
        </pc:picChg>
      </pc:sldChg>
      <pc:sldChg chg="addSp delSp modSp mod setBg modAnim">
        <pc:chgData name="Davidson, Louis" userId="1e9fb052-0758-4f58-97c2-53dae8166b4e" providerId="ADAL" clId="{C02D0E78-79A1-46E4-9F52-4179D9505664}" dt="2026-03-21T01:34:10.267" v="344" actId="20577"/>
        <pc:sldMkLst>
          <pc:docMk/>
          <pc:sldMk cId="929612929" sldId="540"/>
        </pc:sldMkLst>
        <pc:spChg chg="mod">
          <ac:chgData name="Davidson, Louis" userId="1e9fb052-0758-4f58-97c2-53dae8166b4e" providerId="ADAL" clId="{C02D0E78-79A1-46E4-9F52-4179D9505664}" dt="2026-02-26T00:59:15.888" v="130" actId="26606"/>
          <ac:spMkLst>
            <pc:docMk/>
            <pc:sldMk cId="929612929" sldId="540"/>
            <ac:spMk id="2" creationId="{00000000-0000-0000-0000-000000000000}"/>
          </ac:spMkLst>
        </pc:spChg>
        <pc:spChg chg="mod ord">
          <ac:chgData name="Davidson, Louis" userId="1e9fb052-0758-4f58-97c2-53dae8166b4e" providerId="ADAL" clId="{C02D0E78-79A1-46E4-9F52-4179D9505664}" dt="2026-03-21T01:34:10.267" v="344" actId="20577"/>
          <ac:spMkLst>
            <pc:docMk/>
            <pc:sldMk cId="929612929" sldId="540"/>
            <ac:spMk id="3" creationId="{00000000-0000-0000-0000-000000000000}"/>
          </ac:spMkLst>
        </pc:spChg>
        <pc:spChg chg="add">
          <ac:chgData name="Davidson, Louis" userId="1e9fb052-0758-4f58-97c2-53dae8166b4e" providerId="ADAL" clId="{C02D0E78-79A1-46E4-9F52-4179D9505664}" dt="2026-02-26T00:59:15.888" v="130" actId="26606"/>
          <ac:spMkLst>
            <pc:docMk/>
            <pc:sldMk cId="929612929" sldId="540"/>
            <ac:spMk id="27" creationId="{11D64472-9720-4FBC-B628-F62EE9D0158A}"/>
          </ac:spMkLst>
        </pc:spChg>
        <pc:spChg chg="add">
          <ac:chgData name="Davidson, Louis" userId="1e9fb052-0758-4f58-97c2-53dae8166b4e" providerId="ADAL" clId="{C02D0E78-79A1-46E4-9F52-4179D9505664}" dt="2026-02-26T00:59:15.888" v="130" actId="26606"/>
          <ac:spMkLst>
            <pc:docMk/>
            <pc:sldMk cId="929612929" sldId="540"/>
            <ac:spMk id="29" creationId="{DF7BD5AB-415F-42D4-8FC0-DCC5D1101D85}"/>
          </ac:spMkLst>
        </pc:spChg>
        <pc:spChg chg="add">
          <ac:chgData name="Davidson, Louis" userId="1e9fb052-0758-4f58-97c2-53dae8166b4e" providerId="ADAL" clId="{C02D0E78-79A1-46E4-9F52-4179D9505664}" dt="2026-02-26T00:59:15.888" v="130" actId="26606"/>
          <ac:spMkLst>
            <pc:docMk/>
            <pc:sldMk cId="929612929" sldId="540"/>
            <ac:spMk id="30" creationId="{2A8EBF22-DAF1-4100-AA4A-A077B68E3AB8}"/>
          </ac:spMkLst>
        </pc:spChg>
        <pc:picChg chg="mod">
          <ac:chgData name="Davidson, Louis" userId="1e9fb052-0758-4f58-97c2-53dae8166b4e" providerId="ADAL" clId="{C02D0E78-79A1-46E4-9F52-4179D9505664}" dt="2026-02-26T00:59:15.888" v="130" actId="26606"/>
          <ac:picMkLst>
            <pc:docMk/>
            <pc:sldMk cId="929612929" sldId="540"/>
            <ac:picMk id="7" creationId="{54851473-A269-1E6C-53A7-F41E1F79E846}"/>
          </ac:picMkLst>
        </pc:picChg>
        <pc:cxnChg chg="add">
          <ac:chgData name="Davidson, Louis" userId="1e9fb052-0758-4f58-97c2-53dae8166b4e" providerId="ADAL" clId="{C02D0E78-79A1-46E4-9F52-4179D9505664}" dt="2026-02-26T00:59:15.888" v="130" actId="26606"/>
          <ac:cxnSpMkLst>
            <pc:docMk/>
            <pc:sldMk cId="929612929" sldId="540"/>
            <ac:cxnSpMk id="28" creationId="{C8274B1F-2E6E-4044-94F7-2AB4E90F65D4}"/>
          </ac:cxnSpMkLst>
        </pc:cxnChg>
      </pc:sldChg>
      <pc:sldChg chg="modSp">
        <pc:chgData name="Davidson, Louis" userId="1e9fb052-0758-4f58-97c2-53dae8166b4e" providerId="ADAL" clId="{C02D0E78-79A1-46E4-9F52-4179D9505664}" dt="2026-03-16T23:24:53.525" v="184" actId="20577"/>
        <pc:sldMkLst>
          <pc:docMk/>
          <pc:sldMk cId="2540003470" sldId="613"/>
        </pc:sldMkLst>
        <pc:spChg chg="mod">
          <ac:chgData name="Davidson, Louis" userId="1e9fb052-0758-4f58-97c2-53dae8166b4e" providerId="ADAL" clId="{C02D0E78-79A1-46E4-9F52-4179D9505664}" dt="2026-03-16T23:24:53.525" v="184" actId="20577"/>
          <ac:spMkLst>
            <pc:docMk/>
            <pc:sldMk cId="2540003470" sldId="613"/>
            <ac:spMk id="3" creationId="{7AA1921E-4908-AD45-D17D-DD2797FAFD4D}"/>
          </ac:spMkLst>
        </pc:spChg>
      </pc:sldChg>
      <pc:sldChg chg="modSp">
        <pc:chgData name="Davidson, Louis" userId="1e9fb052-0758-4f58-97c2-53dae8166b4e" providerId="ADAL" clId="{C02D0E78-79A1-46E4-9F52-4179D9505664}" dt="2026-03-16T23:31:27.797" v="332" actId="20577"/>
        <pc:sldMkLst>
          <pc:docMk/>
          <pc:sldMk cId="3770607672" sldId="614"/>
        </pc:sldMkLst>
        <pc:spChg chg="mod">
          <ac:chgData name="Davidson, Louis" userId="1e9fb052-0758-4f58-97c2-53dae8166b4e" providerId="ADAL" clId="{C02D0E78-79A1-46E4-9F52-4179D9505664}" dt="2026-03-16T23:31:27.797" v="332" actId="20577"/>
          <ac:spMkLst>
            <pc:docMk/>
            <pc:sldMk cId="3770607672" sldId="614"/>
            <ac:spMk id="3" creationId="{D817AB63-91E5-D627-4A14-7DFE66600984}"/>
          </ac:spMkLst>
        </pc:spChg>
      </pc:sldChg>
      <pc:sldChg chg="modSp modAnim">
        <pc:chgData name="Davidson, Louis" userId="1e9fb052-0758-4f58-97c2-53dae8166b4e" providerId="ADAL" clId="{C02D0E78-79A1-46E4-9F52-4179D9505664}" dt="2026-03-16T23:28:40.003" v="317" actId="403"/>
        <pc:sldMkLst>
          <pc:docMk/>
          <pc:sldMk cId="3883035879" sldId="615"/>
        </pc:sldMkLst>
        <pc:spChg chg="mod">
          <ac:chgData name="Davidson, Louis" userId="1e9fb052-0758-4f58-97c2-53dae8166b4e" providerId="ADAL" clId="{C02D0E78-79A1-46E4-9F52-4179D9505664}" dt="2026-03-16T23:28:40.003" v="317" actId="403"/>
          <ac:spMkLst>
            <pc:docMk/>
            <pc:sldMk cId="3883035879" sldId="615"/>
            <ac:spMk id="3" creationId="{75D1C6F7-4818-6125-06D0-4A3584EA4483}"/>
          </ac:spMkLst>
        </pc:spChg>
      </pc:sldChg>
      <pc:sldChg chg="addSp modSp mod setBg">
        <pc:chgData name="Davidson, Louis" userId="1e9fb052-0758-4f58-97c2-53dae8166b4e" providerId="ADAL" clId="{C02D0E78-79A1-46E4-9F52-4179D9505664}" dt="2026-02-26T00:59:24.227" v="131" actId="26606"/>
        <pc:sldMkLst>
          <pc:docMk/>
          <pc:sldMk cId="3789927490" sldId="619"/>
        </pc:sldMkLst>
        <pc:spChg chg="mod">
          <ac:chgData name="Davidson, Louis" userId="1e9fb052-0758-4f58-97c2-53dae8166b4e" providerId="ADAL" clId="{C02D0E78-79A1-46E4-9F52-4179D9505664}" dt="2026-02-26T00:59:24.227" v="131" actId="26606"/>
          <ac:spMkLst>
            <pc:docMk/>
            <pc:sldMk cId="3789927490" sldId="619"/>
            <ac:spMk id="2" creationId="{805052DB-6D1C-251D-E1E6-349CA50F5D3E}"/>
          </ac:spMkLst>
        </pc:spChg>
        <pc:spChg chg="mod">
          <ac:chgData name="Davidson, Louis" userId="1e9fb052-0758-4f58-97c2-53dae8166b4e" providerId="ADAL" clId="{C02D0E78-79A1-46E4-9F52-4179D9505664}" dt="2026-02-26T00:59:24.227" v="131" actId="26606"/>
          <ac:spMkLst>
            <pc:docMk/>
            <pc:sldMk cId="3789927490" sldId="619"/>
            <ac:spMk id="3" creationId="{7023FE88-97DB-AC47-6068-8EF63FA5BEE9}"/>
          </ac:spMkLst>
        </pc:spChg>
        <pc:spChg chg="add">
          <ac:chgData name="Davidson, Louis" userId="1e9fb052-0758-4f58-97c2-53dae8166b4e" providerId="ADAL" clId="{C02D0E78-79A1-46E4-9F52-4179D9505664}" dt="2026-02-26T00:59:24.227" v="131" actId="26606"/>
          <ac:spMkLst>
            <pc:docMk/>
            <pc:sldMk cId="3789927490" sldId="619"/>
            <ac:spMk id="9" creationId="{990D0034-F768-41E7-85D4-F38C4DE85770}"/>
          </ac:spMkLst>
        </pc:spChg>
        <pc:picChg chg="add">
          <ac:chgData name="Davidson, Louis" userId="1e9fb052-0758-4f58-97c2-53dae8166b4e" providerId="ADAL" clId="{C02D0E78-79A1-46E4-9F52-4179D9505664}" dt="2026-02-26T00:59:24.227" v="131" actId="26606"/>
          <ac:picMkLst>
            <pc:docMk/>
            <pc:sldMk cId="3789927490" sldId="619"/>
            <ac:picMk id="5" creationId="{9F776DE8-7CB2-4D90-977B-58788B20B570}"/>
          </ac:picMkLst>
        </pc:picChg>
        <pc:cxnChg chg="add">
          <ac:chgData name="Davidson, Louis" userId="1e9fb052-0758-4f58-97c2-53dae8166b4e" providerId="ADAL" clId="{C02D0E78-79A1-46E4-9F52-4179D9505664}" dt="2026-02-26T00:59:24.227" v="131" actId="26606"/>
          <ac:cxnSpMkLst>
            <pc:docMk/>
            <pc:sldMk cId="3789927490" sldId="619"/>
            <ac:cxnSpMk id="11" creationId="{5A0A5CF6-407C-4691-8122-49DF69D0020D}"/>
          </ac:cxnSpMkLst>
        </pc:cxnChg>
      </pc:sldChg>
      <pc:sldChg chg="add setBg">
        <pc:chgData name="Davidson, Louis" userId="1e9fb052-0758-4f58-97c2-53dae8166b4e" providerId="ADAL" clId="{C02D0E78-79A1-46E4-9F52-4179D9505664}" dt="2026-03-21T01:21:39.649" v="333"/>
        <pc:sldMkLst>
          <pc:docMk/>
          <pc:sldMk cId="0" sldId="622"/>
        </pc:sldMkLst>
      </pc:sldChg>
      <pc:sldChg chg="add del setBg">
        <pc:chgData name="Davidson, Louis" userId="1e9fb052-0758-4f58-97c2-53dae8166b4e" providerId="ADAL" clId="{C02D0E78-79A1-46E4-9F52-4179D9505664}" dt="2026-03-21T01:24:11.758" v="334" actId="47"/>
        <pc:sldMkLst>
          <pc:docMk/>
          <pc:sldMk cId="4165344062" sldId="623"/>
        </pc:sldMkLst>
      </pc:sldChg>
      <pc:sldChg chg="add setBg">
        <pc:chgData name="Davidson, Louis" userId="1e9fb052-0758-4f58-97c2-53dae8166b4e" providerId="ADAL" clId="{C02D0E78-79A1-46E4-9F52-4179D9505664}" dt="2026-03-21T01:21:39.649" v="333"/>
        <pc:sldMkLst>
          <pc:docMk/>
          <pc:sldMk cId="2347446544" sldId="624"/>
        </pc:sldMkLst>
      </pc:sldChg>
      <pc:sldChg chg="add setBg">
        <pc:chgData name="Davidson, Louis" userId="1e9fb052-0758-4f58-97c2-53dae8166b4e" providerId="ADAL" clId="{C02D0E78-79A1-46E4-9F52-4179D9505664}" dt="2026-03-21T01:21:39.649" v="333"/>
        <pc:sldMkLst>
          <pc:docMk/>
          <pc:sldMk cId="2623640545" sldId="62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B35B04-106D-4348-A003-F1B49333079F}" type="doc">
      <dgm:prSet loTypeId="urn:microsoft.com/office/officeart/2005/8/layout/default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1FCB247B-3194-45A0-8381-0750E9EA76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Relational Database Model State</a:t>
          </a:r>
        </a:p>
      </dgm:t>
    </dgm:pt>
    <dgm:pt modelId="{53DF2B94-82BB-4FD2-A495-B981E8113653}" type="parTrans" cxnId="{825F8D44-DF5D-40DC-ADAE-CB8ED3178C2E}">
      <dgm:prSet/>
      <dgm:spPr/>
      <dgm:t>
        <a:bodyPr/>
        <a:lstStyle/>
        <a:p>
          <a:endParaRPr lang="en-US"/>
        </a:p>
      </dgm:t>
    </dgm:pt>
    <dgm:pt modelId="{5FE558D4-7441-4FCD-B8F4-912D6E3EA6C2}" type="sibTrans" cxnId="{825F8D44-DF5D-40DC-ADAE-CB8ED3178C2E}">
      <dgm:prSet/>
      <dgm:spPr/>
      <dgm:t>
        <a:bodyPr/>
        <a:lstStyle/>
        <a:p>
          <a:endParaRPr lang="en-US"/>
        </a:p>
      </dgm:t>
    </dgm:pt>
    <dgm:pt modelId="{377776D2-6E53-49F0-B51E-EC60A8085A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Dimensional Databases Model Activities</a:t>
          </a:r>
        </a:p>
      </dgm:t>
    </dgm:pt>
    <dgm:pt modelId="{2C7D3ED2-604C-4524-B4AA-2B57258D6145}" type="parTrans" cxnId="{04424D55-76FE-4EA9-A93C-5E5D703B40D5}">
      <dgm:prSet/>
      <dgm:spPr/>
      <dgm:t>
        <a:bodyPr/>
        <a:lstStyle/>
        <a:p>
          <a:endParaRPr lang="en-US"/>
        </a:p>
      </dgm:t>
    </dgm:pt>
    <dgm:pt modelId="{C435AD67-E6AB-4701-B8DD-4E9C344C0A96}" type="sibTrans" cxnId="{04424D55-76FE-4EA9-A93C-5E5D703B40D5}">
      <dgm:prSet/>
      <dgm:spPr/>
      <dgm:t>
        <a:bodyPr/>
        <a:lstStyle/>
        <a:p>
          <a:endParaRPr lang="en-US"/>
        </a:p>
      </dgm:t>
    </dgm:pt>
    <dgm:pt modelId="{73C6A6F0-5C53-4E6C-A525-F36FBE201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Warehouses May Include A Bit of Both</a:t>
          </a:r>
        </a:p>
      </dgm:t>
    </dgm:pt>
    <dgm:pt modelId="{98142A56-561C-4E93-85FB-B34BCF834851}" type="parTrans" cxnId="{7E797B7B-4242-48B1-9535-AE1BCA147478}">
      <dgm:prSet/>
      <dgm:spPr/>
      <dgm:t>
        <a:bodyPr/>
        <a:lstStyle/>
        <a:p>
          <a:endParaRPr lang="en-US"/>
        </a:p>
      </dgm:t>
    </dgm:pt>
    <dgm:pt modelId="{8FE4562F-114B-4AD0-A86D-065860456167}" type="sibTrans" cxnId="{7E797B7B-4242-48B1-9535-AE1BCA147478}">
      <dgm:prSet/>
      <dgm:spPr/>
      <dgm:t>
        <a:bodyPr/>
        <a:lstStyle/>
        <a:p>
          <a:endParaRPr lang="en-US"/>
        </a:p>
      </dgm:t>
    </dgm:pt>
    <dgm:pt modelId="{0B8EB6AC-1C5D-48AD-A6A3-9173133C4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something MAY occur, it:</a:t>
          </a:r>
        </a:p>
      </dgm:t>
    </dgm:pt>
    <dgm:pt modelId="{C177C76A-27F3-4DEB-8F5A-C91CBEA864ED}" type="parTrans" cxnId="{B7CC6555-B38D-413E-BA90-3940A88FFF90}">
      <dgm:prSet/>
      <dgm:spPr/>
      <dgm:t>
        <a:bodyPr/>
        <a:lstStyle/>
        <a:p>
          <a:endParaRPr lang="en-US"/>
        </a:p>
      </dgm:t>
    </dgm:pt>
    <dgm:pt modelId="{9103BFD9-6233-418C-96F9-A276CA865412}" type="sibTrans" cxnId="{B7CC6555-B38D-413E-BA90-3940A88FFF90}">
      <dgm:prSet/>
      <dgm:spPr/>
      <dgm:t>
        <a:bodyPr/>
        <a:lstStyle/>
        <a:p>
          <a:endParaRPr lang="en-US"/>
        </a:p>
      </dgm:t>
    </dgm:pt>
    <dgm:pt modelId="{C44A02D3-D670-45B1-B873-F9BF85EC70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be modeled in your Relational Databases</a:t>
          </a:r>
        </a:p>
      </dgm:t>
    </dgm:pt>
    <dgm:pt modelId="{E48D9FF8-0103-4F56-B6EA-6EBAF0E020CC}" type="parTrans" cxnId="{68D91244-1023-4EC5-9E47-33B933BF766C}">
      <dgm:prSet/>
      <dgm:spPr/>
      <dgm:t>
        <a:bodyPr/>
        <a:lstStyle/>
        <a:p>
          <a:endParaRPr lang="en-US"/>
        </a:p>
      </dgm:t>
    </dgm:pt>
    <dgm:pt modelId="{04536F5E-B648-4227-954B-6B19FD2262E6}" type="sibTrans" cxnId="{68D91244-1023-4EC5-9E47-33B933BF766C}">
      <dgm:prSet/>
      <dgm:spPr/>
      <dgm:t>
        <a:bodyPr/>
        <a:lstStyle/>
        <a:p>
          <a:endParaRPr lang="en-US"/>
        </a:p>
      </dgm:t>
    </dgm:pt>
    <dgm:pt modelId="{C7356C53-DD12-4960-AEDF-CF648124C7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needs to be understood in your output for Business Intelligence Databases</a:t>
          </a:r>
        </a:p>
      </dgm:t>
    </dgm:pt>
    <dgm:pt modelId="{9DC36483-D753-4534-8123-9B4FC3AA957E}" type="parTrans" cxnId="{307754F8-2737-4226-BD23-08605401A437}">
      <dgm:prSet/>
      <dgm:spPr/>
      <dgm:t>
        <a:bodyPr/>
        <a:lstStyle/>
        <a:p>
          <a:endParaRPr lang="en-US"/>
        </a:p>
      </dgm:t>
    </dgm:pt>
    <dgm:pt modelId="{78EBC791-1592-4521-BD15-D18A25C7D953}" type="sibTrans" cxnId="{307754F8-2737-4226-BD23-08605401A437}">
      <dgm:prSet/>
      <dgm:spPr/>
      <dgm:t>
        <a:bodyPr/>
        <a:lstStyle/>
        <a:p>
          <a:endParaRPr lang="en-US"/>
        </a:p>
      </dgm:t>
    </dgm:pt>
    <dgm:pt modelId="{73960123-CB72-4758-8ACB-5C9DBAE1BA92}" type="pres">
      <dgm:prSet presAssocID="{29B35B04-106D-4348-A003-F1B49333079F}" presName="diagram" presStyleCnt="0">
        <dgm:presLayoutVars>
          <dgm:dir/>
          <dgm:resizeHandles val="exact"/>
        </dgm:presLayoutVars>
      </dgm:prSet>
      <dgm:spPr/>
    </dgm:pt>
    <dgm:pt modelId="{41EC3EC8-E00C-477A-8D30-19E8BBAE8315}" type="pres">
      <dgm:prSet presAssocID="{1FCB247B-3194-45A0-8381-0750E9EA7634}" presName="node" presStyleLbl="node1" presStyleIdx="0" presStyleCnt="4">
        <dgm:presLayoutVars>
          <dgm:bulletEnabled val="1"/>
        </dgm:presLayoutVars>
      </dgm:prSet>
      <dgm:spPr/>
    </dgm:pt>
    <dgm:pt modelId="{B2D983C8-FFAB-4F26-AAE5-70503D137843}" type="pres">
      <dgm:prSet presAssocID="{5FE558D4-7441-4FCD-B8F4-912D6E3EA6C2}" presName="sibTrans" presStyleCnt="0"/>
      <dgm:spPr/>
    </dgm:pt>
    <dgm:pt modelId="{3ED7941A-D26D-4CFA-9F42-133B1551B022}" type="pres">
      <dgm:prSet presAssocID="{377776D2-6E53-49F0-B51E-EC60A8085ABA}" presName="node" presStyleLbl="node1" presStyleIdx="1" presStyleCnt="4">
        <dgm:presLayoutVars>
          <dgm:bulletEnabled val="1"/>
        </dgm:presLayoutVars>
      </dgm:prSet>
      <dgm:spPr/>
    </dgm:pt>
    <dgm:pt modelId="{E25A025B-56C2-44FB-B41E-48B5EAE4B68E}" type="pres">
      <dgm:prSet presAssocID="{C435AD67-E6AB-4701-B8DD-4E9C344C0A96}" presName="sibTrans" presStyleCnt="0"/>
      <dgm:spPr/>
    </dgm:pt>
    <dgm:pt modelId="{5E797981-DB0E-46CE-AA01-6D74BC4A2452}" type="pres">
      <dgm:prSet presAssocID="{73C6A6F0-5C53-4E6C-A525-F36FBE201746}" presName="node" presStyleLbl="node1" presStyleIdx="2" presStyleCnt="4">
        <dgm:presLayoutVars>
          <dgm:bulletEnabled val="1"/>
        </dgm:presLayoutVars>
      </dgm:prSet>
      <dgm:spPr/>
    </dgm:pt>
    <dgm:pt modelId="{6CC19DC2-6F5D-4598-AB70-BCABEF9F4630}" type="pres">
      <dgm:prSet presAssocID="{8FE4562F-114B-4AD0-A86D-065860456167}" presName="sibTrans" presStyleCnt="0"/>
      <dgm:spPr/>
    </dgm:pt>
    <dgm:pt modelId="{13476CFA-3452-43E4-BA85-B45316A8F665}" type="pres">
      <dgm:prSet presAssocID="{0B8EB6AC-1C5D-48AD-A6A3-9173133C4B70}" presName="node" presStyleLbl="node1" presStyleIdx="3" presStyleCnt="4" custScaleX="322234">
        <dgm:presLayoutVars>
          <dgm:bulletEnabled val="1"/>
        </dgm:presLayoutVars>
      </dgm:prSet>
      <dgm:spPr/>
    </dgm:pt>
  </dgm:ptLst>
  <dgm:cxnLst>
    <dgm:cxn modelId="{B0EC2512-A4D5-41EE-B6BD-D8D810A19768}" type="presOf" srcId="{C7356C53-DD12-4960-AEDF-CF648124C7C7}" destId="{13476CFA-3452-43E4-BA85-B45316A8F665}" srcOrd="0" destOrd="2" presId="urn:microsoft.com/office/officeart/2005/8/layout/default"/>
    <dgm:cxn modelId="{7E8A5A32-4617-4369-88E9-F90AE0BE60D9}" type="presOf" srcId="{29B35B04-106D-4348-A003-F1B49333079F}" destId="{73960123-CB72-4758-8ACB-5C9DBAE1BA92}" srcOrd="0" destOrd="0" presId="urn:microsoft.com/office/officeart/2005/8/layout/default"/>
    <dgm:cxn modelId="{68D91244-1023-4EC5-9E47-33B933BF766C}" srcId="{0B8EB6AC-1C5D-48AD-A6A3-9173133C4B70}" destId="{C44A02D3-D670-45B1-B873-F9BF85EC701D}" srcOrd="0" destOrd="0" parTransId="{E48D9FF8-0103-4F56-B6EA-6EBAF0E020CC}" sibTransId="{04536F5E-B648-4227-954B-6B19FD2262E6}"/>
    <dgm:cxn modelId="{5D2F1B64-71C6-40E5-B430-8E9BA7911A09}" type="presOf" srcId="{C44A02D3-D670-45B1-B873-F9BF85EC701D}" destId="{13476CFA-3452-43E4-BA85-B45316A8F665}" srcOrd="0" destOrd="1" presId="urn:microsoft.com/office/officeart/2005/8/layout/default"/>
    <dgm:cxn modelId="{825F8D44-DF5D-40DC-ADAE-CB8ED3178C2E}" srcId="{29B35B04-106D-4348-A003-F1B49333079F}" destId="{1FCB247B-3194-45A0-8381-0750E9EA7634}" srcOrd="0" destOrd="0" parTransId="{53DF2B94-82BB-4FD2-A495-B981E8113653}" sibTransId="{5FE558D4-7441-4FCD-B8F4-912D6E3EA6C2}"/>
    <dgm:cxn modelId="{3117F572-A602-4C5A-B892-68179FD13109}" type="presOf" srcId="{0B8EB6AC-1C5D-48AD-A6A3-9173133C4B70}" destId="{13476CFA-3452-43E4-BA85-B45316A8F665}" srcOrd="0" destOrd="0" presId="urn:microsoft.com/office/officeart/2005/8/layout/default"/>
    <dgm:cxn modelId="{B7CC6555-B38D-413E-BA90-3940A88FFF90}" srcId="{29B35B04-106D-4348-A003-F1B49333079F}" destId="{0B8EB6AC-1C5D-48AD-A6A3-9173133C4B70}" srcOrd="3" destOrd="0" parTransId="{C177C76A-27F3-4DEB-8F5A-C91CBEA864ED}" sibTransId="{9103BFD9-6233-418C-96F9-A276CA865412}"/>
    <dgm:cxn modelId="{04424D55-76FE-4EA9-A93C-5E5D703B40D5}" srcId="{29B35B04-106D-4348-A003-F1B49333079F}" destId="{377776D2-6E53-49F0-B51E-EC60A8085ABA}" srcOrd="1" destOrd="0" parTransId="{2C7D3ED2-604C-4524-B4AA-2B57258D6145}" sibTransId="{C435AD67-E6AB-4701-B8DD-4E9C344C0A96}"/>
    <dgm:cxn modelId="{1AC7C157-007A-40F4-BAED-B3040797F094}" type="presOf" srcId="{377776D2-6E53-49F0-B51E-EC60A8085ABA}" destId="{3ED7941A-D26D-4CFA-9F42-133B1551B022}" srcOrd="0" destOrd="0" presId="urn:microsoft.com/office/officeart/2005/8/layout/default"/>
    <dgm:cxn modelId="{7E797B7B-4242-48B1-9535-AE1BCA147478}" srcId="{29B35B04-106D-4348-A003-F1B49333079F}" destId="{73C6A6F0-5C53-4E6C-A525-F36FBE201746}" srcOrd="2" destOrd="0" parTransId="{98142A56-561C-4E93-85FB-B34BCF834851}" sibTransId="{8FE4562F-114B-4AD0-A86D-065860456167}"/>
    <dgm:cxn modelId="{A32DB992-2A57-44A5-AB6D-9DC9220F61FA}" type="presOf" srcId="{73C6A6F0-5C53-4E6C-A525-F36FBE201746}" destId="{5E797981-DB0E-46CE-AA01-6D74BC4A2452}" srcOrd="0" destOrd="0" presId="urn:microsoft.com/office/officeart/2005/8/layout/default"/>
    <dgm:cxn modelId="{13F905AD-4A0D-4871-90C1-B682EA94351D}" type="presOf" srcId="{1FCB247B-3194-45A0-8381-0750E9EA7634}" destId="{41EC3EC8-E00C-477A-8D30-19E8BBAE8315}" srcOrd="0" destOrd="0" presId="urn:microsoft.com/office/officeart/2005/8/layout/default"/>
    <dgm:cxn modelId="{307754F8-2737-4226-BD23-08605401A437}" srcId="{0B8EB6AC-1C5D-48AD-A6A3-9173133C4B70}" destId="{C7356C53-DD12-4960-AEDF-CF648124C7C7}" srcOrd="1" destOrd="0" parTransId="{9DC36483-D753-4534-8123-9B4FC3AA957E}" sibTransId="{78EBC791-1592-4521-BD15-D18A25C7D953}"/>
    <dgm:cxn modelId="{032313E9-23C4-493E-A76F-EB995146D517}" type="presParOf" srcId="{73960123-CB72-4758-8ACB-5C9DBAE1BA92}" destId="{41EC3EC8-E00C-477A-8D30-19E8BBAE8315}" srcOrd="0" destOrd="0" presId="urn:microsoft.com/office/officeart/2005/8/layout/default"/>
    <dgm:cxn modelId="{DB48CA06-468E-4D93-859D-B0105396B0FA}" type="presParOf" srcId="{73960123-CB72-4758-8ACB-5C9DBAE1BA92}" destId="{B2D983C8-FFAB-4F26-AAE5-70503D137843}" srcOrd="1" destOrd="0" presId="urn:microsoft.com/office/officeart/2005/8/layout/default"/>
    <dgm:cxn modelId="{208F47B8-E210-4A40-A224-83A45D7397BA}" type="presParOf" srcId="{73960123-CB72-4758-8ACB-5C9DBAE1BA92}" destId="{3ED7941A-D26D-4CFA-9F42-133B1551B022}" srcOrd="2" destOrd="0" presId="urn:microsoft.com/office/officeart/2005/8/layout/default"/>
    <dgm:cxn modelId="{B8C9E503-9B3F-426F-AD29-225F94D17108}" type="presParOf" srcId="{73960123-CB72-4758-8ACB-5C9DBAE1BA92}" destId="{E25A025B-56C2-44FB-B41E-48B5EAE4B68E}" srcOrd="3" destOrd="0" presId="urn:microsoft.com/office/officeart/2005/8/layout/default"/>
    <dgm:cxn modelId="{E4364533-7C18-4706-B7CD-FA4CB42FE621}" type="presParOf" srcId="{73960123-CB72-4758-8ACB-5C9DBAE1BA92}" destId="{5E797981-DB0E-46CE-AA01-6D74BC4A2452}" srcOrd="4" destOrd="0" presId="urn:microsoft.com/office/officeart/2005/8/layout/default"/>
    <dgm:cxn modelId="{9656CFAD-131E-4081-BC42-7A6120CC8CDF}" type="presParOf" srcId="{73960123-CB72-4758-8ACB-5C9DBAE1BA92}" destId="{6CC19DC2-6F5D-4598-AB70-BCABEF9F4630}" srcOrd="5" destOrd="0" presId="urn:microsoft.com/office/officeart/2005/8/layout/default"/>
    <dgm:cxn modelId="{601C34CD-D2B0-4EDF-8048-92D0EADC6F28}" type="presParOf" srcId="{73960123-CB72-4758-8ACB-5C9DBAE1BA92}" destId="{13476CFA-3452-43E4-BA85-B45316A8F66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C3EC8-E00C-477A-8D30-19E8BBAE8315}">
      <dsp:nvSpPr>
        <dsp:cNvPr id="0" name=""/>
        <dsp:cNvSpPr/>
      </dsp:nvSpPr>
      <dsp:spPr>
        <a:xfrm>
          <a:off x="42579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Relational Database Model State</a:t>
          </a:r>
        </a:p>
      </dsp:txBody>
      <dsp:txXfrm>
        <a:off x="42579" y="38241"/>
        <a:ext cx="3379786" cy="2027871"/>
      </dsp:txXfrm>
    </dsp:sp>
    <dsp:sp modelId="{3ED7941A-D26D-4CFA-9F42-133B1551B022}">
      <dsp:nvSpPr>
        <dsp:cNvPr id="0" name=""/>
        <dsp:cNvSpPr/>
      </dsp:nvSpPr>
      <dsp:spPr>
        <a:xfrm>
          <a:off x="3760345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13333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Dimensional Databases Model Activities</a:t>
          </a:r>
        </a:p>
      </dsp:txBody>
      <dsp:txXfrm>
        <a:off x="3760345" y="38241"/>
        <a:ext cx="3379786" cy="2027871"/>
      </dsp:txXfrm>
    </dsp:sp>
    <dsp:sp modelId="{5E797981-DB0E-46CE-AA01-6D74BC4A2452}">
      <dsp:nvSpPr>
        <dsp:cNvPr id="0" name=""/>
        <dsp:cNvSpPr/>
      </dsp:nvSpPr>
      <dsp:spPr>
        <a:xfrm>
          <a:off x="7478110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26667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Warehouses May Include A Bit of Both</a:t>
          </a:r>
        </a:p>
      </dsp:txBody>
      <dsp:txXfrm>
        <a:off x="7478110" y="38241"/>
        <a:ext cx="3379786" cy="2027871"/>
      </dsp:txXfrm>
    </dsp:sp>
    <dsp:sp modelId="{13476CFA-3452-43E4-BA85-B45316A8F665}">
      <dsp:nvSpPr>
        <dsp:cNvPr id="0" name=""/>
        <dsp:cNvSpPr/>
      </dsp:nvSpPr>
      <dsp:spPr>
        <a:xfrm>
          <a:off x="4827" y="2404092"/>
          <a:ext cx="10890821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4000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something MAY occur, it: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Must be modeled in your Relational Databases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Only needs to be understood in your output for Business Intelligence Databases</a:t>
          </a:r>
        </a:p>
      </dsp:txBody>
      <dsp:txXfrm>
        <a:off x="4827" y="2404092"/>
        <a:ext cx="10890821" cy="2027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37A64-A80C-4DD6-B02C-1EA50F1AA5C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C0EA7-1F24-43DD-BE67-E5D12BE8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306F-350E-358E-0EDF-51EDAEAF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C822-31E6-681D-CD5B-CBD3FFA5E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31B63-8954-9118-9C9C-B0AC49E1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49BE7-0D33-3849-C2DF-A117BBA6C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69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E584-08AA-4A20-0132-56AE9D02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38F56-D8B4-D22F-91C4-E599013DF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2C86E-BE32-FEDE-ACD9-8C03D468B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962B9-6381-EF89-E5B7-84D04E09F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35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0484-CCAC-8018-9F56-C67E05B9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8FA9E-FB43-4760-C8CD-F89DB5AA3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456EB-527D-1CBC-C5ED-5E407B79D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94FA7-CF91-EDEF-35BD-3C59FD609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44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78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7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do we build databases?</a:t>
            </a:r>
          </a:p>
          <a:p>
            <a:endParaRPr lang="en-US"/>
          </a:p>
          <a:p>
            <a:pPr marL="228600" indent="-228600">
              <a:buAutoNum type="arabicPeriod"/>
            </a:pPr>
            <a:r>
              <a:rPr lang="en-US"/>
              <a:t>To allow high throughput of data being input.</a:t>
            </a:r>
          </a:p>
          <a:p>
            <a:pPr marL="685800" lvl="1" indent="-228600">
              <a:buAutoNum type="arabicPeriod"/>
            </a:pPr>
            <a:r>
              <a:rPr lang="en-US"/>
              <a:t>Of course… but what good is data if it is stored poorly?</a:t>
            </a:r>
          </a:p>
          <a:p>
            <a:pPr marL="228600" lvl="0" indent="-228600">
              <a:buAutoNum type="arabicPeriod"/>
            </a:pPr>
            <a:r>
              <a:rPr lang="en-US"/>
              <a:t>To DO things with the data</a:t>
            </a:r>
          </a:p>
          <a:p>
            <a:pPr marL="685800" lvl="1" indent="-228600">
              <a:buAutoNum type="arabicPeriod"/>
            </a:pPr>
            <a:r>
              <a:rPr lang="en-US"/>
              <a:t>#1 to capture that an action has or has not occurred</a:t>
            </a:r>
          </a:p>
          <a:p>
            <a:pPr marL="685800" lvl="1" indent="-228600">
              <a:buAutoNum type="arabicPeriod"/>
            </a:pPr>
            <a:r>
              <a:rPr lang="en-US"/>
              <a:t>Short term reports</a:t>
            </a:r>
          </a:p>
          <a:p>
            <a:pPr marL="685800" lvl="1" indent="-228600">
              <a:buAutoNum type="arabicPeriod"/>
            </a:pPr>
            <a:r>
              <a:rPr lang="en-US"/>
              <a:t>Long term reports</a:t>
            </a:r>
          </a:p>
          <a:p>
            <a:pPr marL="685800" lvl="1" indent="-228600">
              <a:buAutoNum type="arabicPeriod"/>
            </a:pPr>
            <a:r>
              <a:rPr lang="en-US"/>
              <a:t>Process returns</a:t>
            </a:r>
          </a:p>
          <a:p>
            <a:pPr marL="685800" lvl="1" indent="-228600">
              <a:buAutoNum type="arabicPeriod"/>
            </a:pPr>
            <a:r>
              <a:rPr lang="en-US"/>
              <a:t>Prevent future issues</a:t>
            </a:r>
          </a:p>
          <a:p>
            <a:pPr marL="685800" lvl="1" indent="-228600">
              <a:buAutoNum type="arabicPeriod"/>
            </a:pPr>
            <a:r>
              <a:rPr lang="en-US"/>
              <a:t>Marketing (which does sound better than advertising!)</a:t>
            </a:r>
          </a:p>
          <a:p>
            <a:pPr marL="228600" lvl="0" indent="-228600">
              <a:buAutoNum type="arabicPeriod"/>
            </a:pPr>
            <a:r>
              <a:rPr lang="en-US"/>
              <a:t>#1 is generally the one that is truly treated as important as immediate questions are asked</a:t>
            </a:r>
          </a:p>
          <a:p>
            <a:pPr marL="685800" lvl="1" indent="-228600">
              <a:buAutoNum type="arabicPeriod"/>
            </a:pPr>
            <a:r>
              <a:rPr lang="en-US"/>
              <a:t>Customer ordered product, didn’t get it</a:t>
            </a:r>
          </a:p>
          <a:p>
            <a:pPr marL="685800" lvl="1" indent="-228600">
              <a:buAutoNum type="arabicPeriod"/>
            </a:pPr>
            <a:r>
              <a:rPr lang="en-US"/>
              <a:t>Why did’t customer get this email</a:t>
            </a:r>
          </a:p>
          <a:p>
            <a:pPr marL="685800" lvl="1" indent="-228600">
              <a:buAutoNum type="arabicPeriod"/>
            </a:pPr>
            <a:r>
              <a:rPr lang="en-US"/>
              <a:t>Customer said if we send them another freaking email…</a:t>
            </a:r>
          </a:p>
          <a:p>
            <a:pPr marL="685800" lvl="1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90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spelling of thought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42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[twitter] Slides will be on drsql.org in the presentations area for this and the keynote as soon as I can get them out there. @</a:t>
            </a:r>
            <a:r>
              <a:rPr lang="en-US" i="1" err="1"/>
              <a:t>rm</a:t>
            </a:r>
            <a:r>
              <a:rPr lang="en-US" b="1" i="1" err="1"/>
              <a:t>techtrifecta</a:t>
            </a:r>
            <a:r>
              <a:rPr lang="en-US" b="1" i="1"/>
              <a:t> </a:t>
            </a:r>
            <a:r>
              <a:rPr lang="en-US"/>
              <a:t>[/twitter]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82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8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1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5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1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4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0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2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SQLS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727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43BB-8BC2-094F-9976-8843274EE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656C9-1A5B-7438-22D2-7F684BBE8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111F5-5DCF-C4DB-3091-1D3C8453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DDD9B-3243-75A1-6BB4-6BA770CB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5D1B8-2752-AC28-A87E-C9B8EC6C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21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E678-406F-5E13-291C-50AE4431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FEEE-89A9-51BB-DD69-9125EDEF2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E56-EA8F-74CB-D63E-83F27F09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8856-61B4-424A-DEF1-7EA2C286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34A3-B10A-0D75-B268-B01D9BDA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3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5F29-9BD9-64C8-DB42-7A287F2F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AFB0A-0C6D-6479-C03C-1022596C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4C0F4-8DC1-5471-0FAC-760B87C8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82D0-88FA-36FC-6A9F-777A97F1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359E9-EABA-CF43-3684-8B1412DC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66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DE58-1854-AA43-66AD-A5D1F46F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CF9E4-30F3-1FFA-E371-8E2D8D204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4F1FB-7B10-9B7D-C341-2783E332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E6809-E9DF-4F7F-383E-87790329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E0850-B7C8-335D-4D55-814ED937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8832-7CEB-E2E5-7DCF-04D289A0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59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6A48-F5B7-8557-F5D9-7A0964A7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22D2-43E4-C75F-F9CD-E6CEA62EA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09D9E-D991-C827-5A0A-0F71C499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EEB12-1515-C2BA-9B89-A896DA75F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B53DF-4721-234A-8A67-397DF519B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21D81-EC3C-8F3A-529B-FD9111A1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D616-2AE2-D20B-F04B-D3D44850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0F6B8-790A-1CA3-B8D7-3E35774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17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F0D-AD66-AB5F-2B52-34FA3DB2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2ECBA-1D9F-7450-4F9A-DF96B1B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AB0F0-4342-B73B-9B77-46937FE7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09E20-8E44-0F96-6554-35E88D3A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678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000E1-103E-2230-7BEC-A893E0A0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7B26D-4EBB-6AE1-49CD-1A5A4BC0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D6991-9E7E-AF82-1875-539B0F82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66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E1B5-E123-9BE3-4CC7-D2E02844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E085-EBDD-CA88-F42D-0096F545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77562-E8CD-6EAA-2C12-ED6617AE4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96CBF-492A-1BAF-8557-BC431BD4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B2A35-1FE8-0DDA-5F28-FFCD1B4F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C693A-5340-007F-2FC6-202834A9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5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AF72-AC54-F7BA-E2FA-427FDBAB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0FFAB-E053-B564-5F4B-D26910E82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28119-0CD4-7935-A7CC-AE33AB6A4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8EE6D-2DFC-65C8-4380-D93AC88E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307B-8FEA-B6B1-8B9B-74DD44C6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4F821-EE2D-341B-C6C7-4056911D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653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6C4C-43A0-A88C-8A51-00BB01C9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BA018-927B-5B7E-2994-0BF948C54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3E3F-5687-2572-C421-2E1E7A0F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9CC6C-2443-B6F2-C188-B2EDFDB0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5633-0909-A729-59EB-3FDF3CE0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78230-EFF7-03C7-6A9A-DA67C6B41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A78C6-4038-E579-D304-EC37BB0D9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05E6-242A-03B9-2C99-3FED3D9D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13840-606F-CEAE-C3E8-3FCC843B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4F1F-B00D-0B06-B8B6-0B2E67C7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14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6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17D50-AE5F-FA26-89DE-0B32BEE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3782-537F-CF9A-40FB-3E6622C34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6AF1-D645-A970-0D43-38BE748F5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FE6D9-F736-47F6-9B7D-D32DC0152B5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EE195-33D0-E1CC-D883-6F02CBC7C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C8CCA-F29A-1D4B-53D4-42A798B72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ismart.com/en/medallion-architecture" TargetMode="External"/><Relationship Id="rId2" Type="http://schemas.openxmlformats.org/officeDocument/2006/relationships/hyperlink" Target="https://www.kimballgroup.com/2004/01/data-warehouse-dining-experience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hyperlink" Target="mailto:louis@drsql.org" TargetMode="External"/><Relationship Id="rId7" Type="http://schemas.openxmlformats.org/officeDocument/2006/relationships/hyperlink" Target="https://linkedin.com/in/louisdavids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sql.link" TargetMode="External"/><Relationship Id="rId5" Type="http://schemas.openxmlformats.org/officeDocument/2006/relationships/hyperlink" Target="https://drsql.link/presentations" TargetMode="External"/><Relationship Id="rId4" Type="http://schemas.openxmlformats.org/officeDocument/2006/relationships/hyperlink" Target="http://drsql.org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drsql.link/presentation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3F96-10E6-7EA9-471D-D769A10B7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Dimensional and Relational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B226D-20B2-D67D-26B7-DFC6DFA53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Understanding the key differences</a:t>
            </a:r>
          </a:p>
          <a:p>
            <a:endParaRPr lang="en-US"/>
          </a:p>
          <a:p>
            <a:r>
              <a:rPr lang="en-US"/>
              <a:t>Louis Davidson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241945-1040-ED5F-309F-EAC3C0D7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85" y="5018267"/>
            <a:ext cx="2134515" cy="63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0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4771" y="464529"/>
            <a:ext cx="109446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To Our Sponsors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Making SQL Saturday Possible!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85800" y="1290511"/>
            <a:ext cx="1074420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7F701A-5D8B-4E4F-234E-64B1BD321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55" y="1053375"/>
            <a:ext cx="4075700" cy="177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807493F-D61E-521D-AD42-41140B2F3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517" y="1014069"/>
            <a:ext cx="8240889" cy="204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C340BE5-056E-6361-07AC-E924917EB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71" y="2824288"/>
            <a:ext cx="3889127" cy="100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0AC8134-626D-E22B-D0F7-FD7F51E19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448" y="4037692"/>
            <a:ext cx="3606747" cy="82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CCDD3A0-0316-75D2-5FA2-B69B737E5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488" y="5012383"/>
            <a:ext cx="2840792" cy="91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9778690-CA08-6C2C-33AD-C52A6B73B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71" y="4043356"/>
            <a:ext cx="4932338" cy="82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C30AE31-C561-48AE-58FF-FE79BABD3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096" y="5049602"/>
            <a:ext cx="3080798" cy="61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91AA69A2-A3D4-AB5F-E8EB-04FD8FC19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868" y="4241659"/>
            <a:ext cx="2347310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175570-747F-89F4-4315-28971D83DF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744" y="2824287"/>
            <a:ext cx="1066434" cy="10664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1274EE-D25A-874D-7D60-0194801D46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96" y="2995795"/>
            <a:ext cx="2352948" cy="5640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D43F7E-515F-FA9D-4AB0-D48E07BF4B7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502" y="2953145"/>
            <a:ext cx="2744676" cy="635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FBCBA8-CA9C-1990-33A1-CC6FCBC1D3C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068" y="4830271"/>
            <a:ext cx="1892215" cy="11353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A881B6-82CE-5917-4D10-BF8525ACA3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5" y="6133994"/>
            <a:ext cx="1968316" cy="3216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AC82BC-8896-2742-3579-76E2E2B88F9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4" y="5093110"/>
            <a:ext cx="1828959" cy="609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A943-1441-BAB9-7E71-B09128C5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94C34F-EB0E-F1D6-3770-2CF313123FD6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FA8024-5B17-E0B7-F1BF-C8965C2162F8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547D3C-1EAE-C6BE-E842-57E5ADA33EB1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121CB6-16A4-1BAF-010E-1CB9DEDD0B24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555C9E9-76BE-77DC-28E9-6CFECCA4E48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BDBA70-E52D-7EA7-7D48-6FC5DE2CC3D3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109FBD2-5219-27B5-CA44-1007E089A861}"/>
              </a:ext>
            </a:extLst>
          </p:cNvPr>
          <p:cNvSpPr/>
          <p:nvPr/>
        </p:nvSpPr>
        <p:spPr>
          <a:xfrm>
            <a:off x="8050251" y="560692"/>
            <a:ext cx="4051754" cy="1511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Very Special Thank You To Our Community Partner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Academy!</a:t>
            </a:r>
            <a:endParaRPr lang="en-US" sz="2800" b="1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CB79C09-AEBC-F173-79FE-620CF2EA6825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66D7E82-C733-27D7-10FF-7DABACC90DB3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8BDE235-8121-A9B6-0482-65608003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189" y="1843859"/>
            <a:ext cx="3298299" cy="329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34B1A3DE-8D37-F228-A1D3-EADCE71F8DC6}"/>
              </a:ext>
            </a:extLst>
          </p:cNvPr>
          <p:cNvSpPr/>
          <p:nvPr/>
        </p:nvSpPr>
        <p:spPr>
          <a:xfrm>
            <a:off x="8273152" y="5459079"/>
            <a:ext cx="3510371" cy="643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Please Support Via Tax Credit Eligible Donation That Goes DIRECTLY To Innovation Academy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E2D54-6553-43C7-1D85-1A2B1565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" y="128017"/>
            <a:ext cx="8034709" cy="672998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2B490A-89E9-71FD-F8A1-AE51C28CDD26}"/>
              </a:ext>
            </a:extLst>
          </p:cNvPr>
          <p:cNvCxnSpPr/>
          <p:nvPr/>
        </p:nvCxnSpPr>
        <p:spPr>
          <a:xfrm flipV="1">
            <a:off x="284672" y="1250830"/>
            <a:ext cx="2763251" cy="1086928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D22B5A-1354-5485-3BBA-6338D98BEC88}"/>
              </a:ext>
            </a:extLst>
          </p:cNvPr>
          <p:cNvCxnSpPr>
            <a:cxnSpLocks/>
          </p:cNvCxnSpPr>
          <p:nvPr/>
        </p:nvCxnSpPr>
        <p:spPr>
          <a:xfrm flipH="1" flipV="1">
            <a:off x="9753043" y="1872474"/>
            <a:ext cx="606299" cy="870726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F279-E529-1785-29DA-41E0350C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CF6FA5-E8EB-73DE-B709-7CF4122CF7CE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E4625A-9C9A-A398-FAC3-5BDC27E25486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529A27-8B87-65BD-8967-AF231C81CA75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3844D5-4FFB-EB2F-21A2-2411B652B00C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2ECAC5-E244-EE04-3F09-E14FB8E97F6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3592993-7576-864C-92D9-57C5916118A6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>
            <a:extLst>
              <a:ext uri="{FF2B5EF4-FFF2-40B4-BE49-F238E27FC236}">
                <a16:creationId xmlns:a16="http://schemas.microsoft.com/office/drawing/2014/main" id="{0B771775-9701-AB14-E114-CF481401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FD8D31C5-AAB8-00D7-0426-89F28EC4CFB4}"/>
              </a:ext>
            </a:extLst>
          </p:cNvPr>
          <p:cNvSpPr/>
          <p:nvPr/>
        </p:nvSpPr>
        <p:spPr>
          <a:xfrm>
            <a:off x="0" y="128016"/>
            <a:ext cx="12191695" cy="119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Session Evaluations</a:t>
            </a:r>
            <a:endParaRPr lang="en-US" sz="4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EFAD4A6-F680-E9E7-F918-A850EC64B018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2014CD2-5DBA-8342-B6C9-1D3D32182ED4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FCF3FC-7CC2-885C-F672-19FD5678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791" y="1257559"/>
            <a:ext cx="5262113" cy="52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4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A7AB-7897-F381-0C44-B35D7A14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12050C-7045-88AE-2478-E55335AE588E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52FEB6-58E1-2314-4CD2-61D2FBC80D9F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AFDDF7-ABF7-9FF1-75D3-6BC4ECCCDCAB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75EF27-2C4A-39C6-76DB-EC997C1C5B58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B54853-6C33-481B-E9E6-4EC2C4BCB15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701A32-0864-0AAE-FC7D-10EFF9C5D893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>
            <a:extLst>
              <a:ext uri="{FF2B5EF4-FFF2-40B4-BE49-F238E27FC236}">
                <a16:creationId xmlns:a16="http://schemas.microsoft.com/office/drawing/2014/main" id="{C88892E9-1A08-BB5B-B14B-651B2AC36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36E2C4D-5158-32B7-5B64-FBF39DBB72FD}"/>
              </a:ext>
            </a:extLst>
          </p:cNvPr>
          <p:cNvSpPr/>
          <p:nvPr/>
        </p:nvSpPr>
        <p:spPr>
          <a:xfrm>
            <a:off x="305568" y="778044"/>
            <a:ext cx="9752832" cy="119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SQL Saturday Atlanta Closing Ceremony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5PM In The Auditorium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Must Be Present To Win Raffle Prizes</a:t>
            </a:r>
            <a:endParaRPr lang="en-US" sz="4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1686679-A1A7-B5ED-B1B8-389CBCCE5D54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F24A0C6-BF63-41CE-7EE8-E196E49743F2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8E9F68-71DD-86B5-2B9F-4E7F2F90A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867" y="2625899"/>
            <a:ext cx="629690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40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C6E7-2BAC-6953-9220-E8D9466A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2390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Bit of a warning…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F34A-DA35-945D-F57F-285A0C8B5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577" y="3747129"/>
            <a:ext cx="4508641" cy="16133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This presentation is interactive</a:t>
            </a:r>
          </a:p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If you d</a:t>
            </a:r>
            <a:r>
              <a:rPr lang="en-US" sz="2000" dirty="0">
                <a:solidFill>
                  <a:schemeClr val="bg1"/>
                </a:solidFill>
              </a:rPr>
              <a:t>on’t interact, I will start daydreaming about going back home to work and I don’t want to think about that yet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19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crophone in a bar">
            <a:extLst>
              <a:ext uri="{FF2B5EF4-FFF2-40B4-BE49-F238E27FC236}">
                <a16:creationId xmlns:a16="http://schemas.microsoft.com/office/drawing/2014/main" id="{C55F38B2-8396-9430-8741-86161456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9" b="1187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4CF58-509A-BB1A-D3D3-9C9AA189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18820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And now… on with the show!</a:t>
            </a:r>
          </a:p>
        </p:txBody>
      </p:sp>
    </p:spTree>
    <p:extLst>
      <p:ext uri="{BB962C8B-B14F-4D97-AF65-F5344CB8AC3E}">
        <p14:creationId xmlns:p14="http://schemas.microsoft.com/office/powerpoint/2010/main" val="32497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1D64472-9720-4FBC-B628-F62EE9D0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Who Am I?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51473-A269-1E6C-53A7-F41E1F79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97" y="645106"/>
            <a:ext cx="3804616" cy="524774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274B1F-2E6E-4044-94F7-2AB4E90F6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sz="1300" b="1" dirty="0"/>
              <a:t>Database programmer/architect &gt; 30 years</a:t>
            </a:r>
          </a:p>
          <a:p>
            <a:r>
              <a:rPr lang="en-US" sz="1300" b="1" dirty="0"/>
              <a:t>Former Microsoft MVP (19 Times)</a:t>
            </a:r>
          </a:p>
          <a:p>
            <a:r>
              <a:rPr lang="en-US" sz="1300" b="1" dirty="0"/>
              <a:t>Written 6 books on database design</a:t>
            </a:r>
          </a:p>
          <a:p>
            <a:pPr lvl="1"/>
            <a:r>
              <a:rPr lang="en-US" sz="1300" dirty="0"/>
              <a:t>They were technically all versions of the same book.  </a:t>
            </a:r>
          </a:p>
          <a:p>
            <a:pPr lvl="1"/>
            <a:r>
              <a:rPr lang="en-US" sz="1300" dirty="0"/>
              <a:t>They at least had slightly different titles each time</a:t>
            </a:r>
          </a:p>
          <a:p>
            <a:pPr lvl="1"/>
            <a:r>
              <a:rPr lang="en-US" sz="1300" dirty="0"/>
              <a:t>Seventh Edition? Who knows?</a:t>
            </a:r>
          </a:p>
          <a:p>
            <a:r>
              <a:rPr lang="en-US" sz="1300" b="1" dirty="0"/>
              <a:t>Super Brief Contact Info: DRSQL</a:t>
            </a:r>
          </a:p>
          <a:p>
            <a:pPr lvl="1"/>
            <a:r>
              <a:rPr lang="en-US" sz="1300" dirty="0"/>
              <a:t>Twitter</a:t>
            </a:r>
          </a:p>
          <a:p>
            <a:pPr lvl="1"/>
            <a:r>
              <a:rPr lang="en-US" sz="1300" dirty="0"/>
              <a:t>Website/blog (.org | .link) </a:t>
            </a:r>
          </a:p>
          <a:p>
            <a:pPr lvl="1"/>
            <a:r>
              <a:rPr lang="en-US" sz="1300" dirty="0"/>
              <a:t>Email (@hotmail.com)</a:t>
            </a:r>
          </a:p>
          <a:p>
            <a:pPr lvl="1"/>
            <a:r>
              <a:rPr lang="en-US" sz="1300" dirty="0"/>
              <a:t>LinkedIn (actually that handle is </a:t>
            </a:r>
            <a:r>
              <a:rPr lang="en-US" sz="1300" dirty="0" err="1"/>
              <a:t>LouisDavidson</a:t>
            </a:r>
            <a:r>
              <a:rPr lang="en-US" sz="1300" dirty="0"/>
              <a:t>, but you can search for </a:t>
            </a:r>
            <a:r>
              <a:rPr lang="en-US" sz="1300" dirty="0" err="1"/>
              <a:t>drsql</a:t>
            </a:r>
            <a:r>
              <a:rPr lang="en-US" sz="1300" dirty="0"/>
              <a:t>)</a:t>
            </a:r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7BD5AB-415F-42D4-8FC0-DCC5D1101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EBF22-DAF1-4100-AA4A-A077B68E3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1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41ED4C77-8023-8F12-C39F-6BF28FCFA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C13DF-0BF2-C072-719C-D1838F8E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7" y="2083255"/>
            <a:ext cx="10058400" cy="166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>
                <a:solidFill>
                  <a:schemeClr val="tx1"/>
                </a:solidFill>
              </a:rPr>
              <a:t>My background</a:t>
            </a:r>
            <a:endParaRPr lang="en-US" sz="800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7D7D77-8DF2-444B-A0BB-15B065195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72AB3-7AC2-4380-8B64-AFC8AC684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4896F5-ADC0-4F92-891D-8AD641242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85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C907-605B-3FF8-0BDB-6F945197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50C1-AF2E-6AB8-A4EF-BD81B7518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F5CA7A12-B745-3BF4-B5D3-4143BB90A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1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0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view from a train&#10;&#10;Description automatically generated">
            <a:extLst>
              <a:ext uri="{FF2B5EF4-FFF2-40B4-BE49-F238E27FC236}">
                <a16:creationId xmlns:a16="http://schemas.microsoft.com/office/drawing/2014/main" id="{05D9DABA-3974-0920-DEE2-42E45415BE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3269524"/>
            <a:ext cx="8300065" cy="4668786"/>
          </a:xfrm>
          <a:prstGeom prst="rect">
            <a:avLst/>
          </a:prstGeom>
        </p:spPr>
      </p:pic>
      <p:pic>
        <p:nvPicPr>
          <p:cNvPr id="7" name="Picture 6" descr="A roller coaster ride in a park&#10;&#10;Description automatically generated">
            <a:extLst>
              <a:ext uri="{FF2B5EF4-FFF2-40B4-BE49-F238E27FC236}">
                <a16:creationId xmlns:a16="http://schemas.microsoft.com/office/drawing/2014/main" id="{FEA342DD-DCD9-943F-1485-515A4B895D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38" y="1364454"/>
            <a:ext cx="3932351" cy="2211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E6CBE-4465-5C2C-996B-E22FC24E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57" y="317013"/>
            <a:ext cx="7778044" cy="950420"/>
          </a:xfrm>
        </p:spPr>
        <p:txBody>
          <a:bodyPr/>
          <a:lstStyle/>
          <a:p>
            <a:r>
              <a:rPr lang="en-US"/>
              <a:t>My non-tech hobby</a:t>
            </a:r>
          </a:p>
        </p:txBody>
      </p:sp>
      <p:pic>
        <p:nvPicPr>
          <p:cNvPr id="5" name="Content Placeholder 4" descr="A roller coaster in the woods&#10;&#10;Description automatically generated">
            <a:extLst>
              <a:ext uri="{FF2B5EF4-FFF2-40B4-BE49-F238E27FC236}">
                <a16:creationId xmlns:a16="http://schemas.microsoft.com/office/drawing/2014/main" id="{202BF86F-C2D8-8A03-4F70-575301183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1364384"/>
            <a:ext cx="3932351" cy="2212018"/>
          </a:xfrm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85AA850-4FE6-78FD-C2F0-9A2EB36A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111" y="1364384"/>
            <a:ext cx="4110851" cy="548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94242A-DE02-AF42-5ADB-C2FF2730A9A7}"/>
              </a:ext>
            </a:extLst>
          </p:cNvPr>
          <p:cNvSpPr txBox="1"/>
          <p:nvPr/>
        </p:nvSpPr>
        <p:spPr>
          <a:xfrm>
            <a:off x="3883437" y="6253656"/>
            <a:ext cx="3124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err="1"/>
              <a:t>xTwitter</a:t>
            </a:r>
            <a:r>
              <a:rPr lang="en-US"/>
              <a:t>: @disneypicaday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0C77A-7EFC-2747-6A15-EDBB7CB237D3}"/>
              </a:ext>
            </a:extLst>
          </p:cNvPr>
          <p:cNvSpPr txBox="1"/>
          <p:nvPr/>
        </p:nvSpPr>
        <p:spPr>
          <a:xfrm>
            <a:off x="186126" y="3407125"/>
            <a:ext cx="3124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err="1"/>
              <a:t>xTwitter</a:t>
            </a:r>
            <a:r>
              <a:rPr lang="en-US"/>
              <a:t>: @dollywoodp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9B267-7304-F5D4-908A-F7365A6DE930}"/>
              </a:ext>
            </a:extLst>
          </p:cNvPr>
          <p:cNvSpPr txBox="1"/>
          <p:nvPr/>
        </p:nvSpPr>
        <p:spPr>
          <a:xfrm>
            <a:off x="8350264" y="1399153"/>
            <a:ext cx="3124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Instagram: @figmentsintime</a:t>
            </a:r>
          </a:p>
        </p:txBody>
      </p:sp>
    </p:spTree>
    <p:extLst>
      <p:ext uri="{BB962C8B-B14F-4D97-AF65-F5344CB8AC3E}">
        <p14:creationId xmlns:p14="http://schemas.microsoft.com/office/powerpoint/2010/main" val="5365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F4539-0668-7379-4A6C-096A3FA6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052DB-6D1C-251D-E1E6-349CA50F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5"/>
            <a:ext cx="3100136" cy="2103875"/>
          </a:xfrm>
        </p:spPr>
        <p:txBody>
          <a:bodyPr>
            <a:normAutofit/>
          </a:bodyPr>
          <a:lstStyle/>
          <a:p>
            <a:r>
              <a:rPr lang="en-US" sz="3600" b="1"/>
              <a:t>My professional background</a:t>
            </a:r>
            <a:endParaRPr lang="en-US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743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FE88-97DB-AC47-6068-8EF63FA5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736574"/>
            <a:ext cx="3084844" cy="33660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/>
              <a:t>Over 30 years as a little bit of a:</a:t>
            </a:r>
          </a:p>
          <a:p>
            <a:pPr marL="383540" lvl="1"/>
            <a:r>
              <a:rPr lang="en-US" sz="1500"/>
              <a:t>DBA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Transact SQL Programmer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Data Architect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ETL Developer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Writer/blogger/speaker/learner about these topics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1500"/>
              <a:t>Written several books on Relational Database Design (Last time I will mention this...most likely)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1500"/>
              <a:t>Went to a few of the Kimball Group’s Classes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5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Books stacked on a table">
            <a:extLst>
              <a:ext uri="{FF2B5EF4-FFF2-40B4-BE49-F238E27FC236}">
                <a16:creationId xmlns:a16="http://schemas.microsoft.com/office/drawing/2014/main" id="{9F776DE8-7CB2-4D90-977B-58788B20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9" r="9532" b="-1"/>
          <a:stretch>
            <a:fillRect/>
          </a:stretch>
        </p:blipFill>
        <p:spPr>
          <a:xfrm>
            <a:off x="4075043" y="10"/>
            <a:ext cx="811127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8" descr="A circular structure with many dots and lines&#10;&#10;Description automatically generated">
            <a:extLst>
              <a:ext uri="{FF2B5EF4-FFF2-40B4-BE49-F238E27FC236}">
                <a16:creationId xmlns:a16="http://schemas.microsoft.com/office/drawing/2014/main" id="{F9954D7D-7549-5A04-1EFD-CCD2FE20F8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825" cy="6858000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92DB53-DC66-4177-B11A-04BDC9EE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7" y="194756"/>
            <a:ext cx="7885824" cy="6301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do we build databases to start with?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B118944-5C66-F8C2-DB24-DBA963EF7A0C}"/>
              </a:ext>
            </a:extLst>
          </p:cNvPr>
          <p:cNvSpPr/>
          <p:nvPr/>
        </p:nvSpPr>
        <p:spPr>
          <a:xfrm>
            <a:off x="77518" y="2465903"/>
            <a:ext cx="2677392" cy="11430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Record Some Activity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34BB3F7-037E-45D4-4265-0D5B9F188ABD}"/>
              </a:ext>
            </a:extLst>
          </p:cNvPr>
          <p:cNvSpPr/>
          <p:nvPr/>
        </p:nvSpPr>
        <p:spPr>
          <a:xfrm>
            <a:off x="8517146" y="2758335"/>
            <a:ext cx="2954658" cy="9633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 on the activity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09E7EEA-EE52-548E-AE2E-E8FFD2F6FECF}"/>
              </a:ext>
            </a:extLst>
          </p:cNvPr>
          <p:cNvSpPr/>
          <p:nvPr/>
        </p:nvSpPr>
        <p:spPr>
          <a:xfrm>
            <a:off x="8531142" y="3499710"/>
            <a:ext cx="3698938" cy="128066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Immediately report that this action has occurred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803ED08-C34E-FF79-5971-37F3F6445492}"/>
              </a:ext>
            </a:extLst>
          </p:cNvPr>
          <p:cNvSpPr/>
          <p:nvPr/>
        </p:nvSpPr>
        <p:spPr>
          <a:xfrm>
            <a:off x="8539892" y="1793238"/>
            <a:ext cx="2954658" cy="888575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Determine trends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37988F7-721C-BEEF-7FD0-797A91F0A62A}"/>
              </a:ext>
            </a:extLst>
          </p:cNvPr>
          <p:cNvSpPr/>
          <p:nvPr/>
        </p:nvSpPr>
        <p:spPr>
          <a:xfrm>
            <a:off x="8517145" y="5464998"/>
            <a:ext cx="3433117" cy="99568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 prepared for audits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70B1126-E3C1-408E-BAAE-C655DB3794BE}"/>
              </a:ext>
            </a:extLst>
          </p:cNvPr>
          <p:cNvSpPr/>
          <p:nvPr/>
        </p:nvSpPr>
        <p:spPr>
          <a:xfrm>
            <a:off x="8517145" y="797782"/>
            <a:ext cx="3674855" cy="104883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Help AI help us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F5992B0-EFF5-D959-1E78-C27672DB932F}"/>
              </a:ext>
            </a:extLst>
          </p:cNvPr>
          <p:cNvSpPr/>
          <p:nvPr/>
        </p:nvSpPr>
        <p:spPr>
          <a:xfrm>
            <a:off x="8522393" y="4555198"/>
            <a:ext cx="2954658" cy="109524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Indirectly trigger actions to occur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F4565D08-9B6E-A296-C089-B85A3E9B1E1A}"/>
              </a:ext>
            </a:extLst>
          </p:cNvPr>
          <p:cNvSpPr/>
          <p:nvPr/>
        </p:nvSpPr>
        <p:spPr>
          <a:xfrm rot="5400000">
            <a:off x="10662251" y="3969637"/>
            <a:ext cx="2284529" cy="619931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413332BC-01DC-6A10-9CB1-743277E82CA5}"/>
              </a:ext>
            </a:extLst>
          </p:cNvPr>
          <p:cNvSpPr/>
          <p:nvPr/>
        </p:nvSpPr>
        <p:spPr>
          <a:xfrm rot="684404">
            <a:off x="3085848" y="4169285"/>
            <a:ext cx="8913309" cy="39574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1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107-78E7-1AD9-0D67-AA41202A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Similarities Between Dimensional and Relational</a:t>
            </a:r>
          </a:p>
        </p:txBody>
      </p:sp>
      <p:pic>
        <p:nvPicPr>
          <p:cNvPr id="19" name="Graphic 18" descr="Database">
            <a:extLst>
              <a:ext uri="{FF2B5EF4-FFF2-40B4-BE49-F238E27FC236}">
                <a16:creationId xmlns:a16="http://schemas.microsoft.com/office/drawing/2014/main" id="{D5608EB6-FFC3-51E1-128A-4592F6FD8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04" y="1737360"/>
            <a:ext cx="2376058" cy="2376058"/>
          </a:xfrm>
          <a:prstGeom prst="rect">
            <a:avLst/>
          </a:prstGeom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4B5D62C2-D595-0958-BF6D-A76649BCB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04" y="3857414"/>
            <a:ext cx="2376057" cy="23760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AA44-A15E-9869-C24E-EB7893C56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61" y="1845733"/>
            <a:ext cx="8093219" cy="4387737"/>
          </a:xfrm>
        </p:spPr>
        <p:txBody>
          <a:bodyPr>
            <a:noAutofit/>
          </a:bodyPr>
          <a:lstStyle/>
          <a:p>
            <a:r>
              <a:rPr lang="en-US" sz="1600" b="1" dirty="0"/>
              <a:t>Both are</a:t>
            </a:r>
            <a:r>
              <a:rPr lang="en-US" sz="1600" b="1" baseline="0" dirty="0"/>
              <a:t> data stored to be used</a:t>
            </a:r>
          </a:p>
          <a:p>
            <a:pPr lvl="1"/>
            <a:r>
              <a:rPr lang="en-US" sz="1600" baseline="0" dirty="0"/>
              <a:t>Often using the same data storage technologies</a:t>
            </a:r>
          </a:p>
          <a:p>
            <a:r>
              <a:rPr lang="en-US" sz="1600" b="1" baseline="0" dirty="0"/>
              <a:t>Both typically focus on table structures </a:t>
            </a:r>
          </a:p>
          <a:p>
            <a:pPr lvl="1"/>
            <a:r>
              <a:rPr lang="en-US" sz="1600" dirty="0"/>
              <a:t>Rows, Columns with Scalar Values</a:t>
            </a:r>
          </a:p>
          <a:p>
            <a:r>
              <a:rPr lang="en-US" sz="1600" b="1" dirty="0"/>
              <a:t>Some of the core skills involved </a:t>
            </a:r>
          </a:p>
          <a:p>
            <a:pPr lvl="1"/>
            <a:r>
              <a:rPr lang="en-US" sz="1600" dirty="0"/>
              <a:t>Relational Database Engines (Or something that behaves similarly)</a:t>
            </a:r>
          </a:p>
          <a:p>
            <a:pPr lvl="1"/>
            <a:r>
              <a:rPr lang="en-US" sz="1600" baseline="0" dirty="0"/>
              <a:t>SQL</a:t>
            </a:r>
          </a:p>
          <a:p>
            <a:r>
              <a:rPr lang="en-US" sz="1600" b="1" dirty="0"/>
              <a:t>Most important similarity</a:t>
            </a:r>
          </a:p>
          <a:p>
            <a:pPr lvl="1"/>
            <a:r>
              <a:rPr lang="en-US" sz="1600" dirty="0"/>
              <a:t>Organizations rely on data from relational and business intelligence systems to make important decisions</a:t>
            </a:r>
          </a:p>
          <a:p>
            <a:pPr lvl="1"/>
            <a:r>
              <a:rPr lang="en-US" sz="1600" dirty="0"/>
              <a:t>Data Quality is </a:t>
            </a:r>
            <a:r>
              <a:rPr lang="en-US" sz="1600" b="1" dirty="0"/>
              <a:t>ESSENTIAL</a:t>
            </a:r>
          </a:p>
          <a:p>
            <a:r>
              <a:rPr lang="en-US" sz="1800" b="1" dirty="0"/>
              <a:t>AI??</a:t>
            </a:r>
            <a:endParaRPr lang="en-US" sz="1800" dirty="0"/>
          </a:p>
          <a:p>
            <a:r>
              <a:rPr lang="en-US" sz="1600" b="1" i="1" dirty="0"/>
              <a:t>These similarities are often the start of issues…</a:t>
            </a:r>
          </a:p>
        </p:txBody>
      </p:sp>
    </p:spTree>
    <p:extLst>
      <p:ext uri="{BB962C8B-B14F-4D97-AF65-F5344CB8AC3E}">
        <p14:creationId xmlns:p14="http://schemas.microsoft.com/office/powerpoint/2010/main" val="24661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6BAEB-E618-772D-A4A0-AC76B6F2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Difference: Purpose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1921E-4908-AD45-D17D-DD2797FA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9124" y="461188"/>
            <a:ext cx="6836158" cy="6023434"/>
          </a:xfrm>
        </p:spPr>
        <p:txBody>
          <a:bodyPr anchor="ctr">
            <a:normAutofit fontScale="92500"/>
          </a:bodyPr>
          <a:lstStyle/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Relational – Core Business Functions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Stores state information that reflects ongoing activities (such as sales and customer data). 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Data storage usually necessitates ACID compliance (Atomicity, Consistency, Isolation, Durability)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Commonly associated with transactional systems (OLTP)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Usually accessed through a predetermined interface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Dimensional – Analysis through time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Converting transactional data into actionable insights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</a:rPr>
              <a:t>Commonly thought of as analytics (OLAP)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Aimed at facilitating significant decision-making processes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Can include a computer interface or allow users to run queries directly using the database as an interface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000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B04C-41D4-2288-A5B6-B2329047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lvl="0"/>
            <a:r>
              <a:rPr lang="en-US"/>
              <a:t>Difference</a:t>
            </a:r>
            <a:r>
              <a:rPr lang="en-US" baseline="0"/>
              <a:t>: Th</a:t>
            </a:r>
            <a:r>
              <a:rPr lang="en-US"/>
              <a:t>e Data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2EF1-A632-922D-0F70-BCC152B7C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90050" cy="4725664"/>
          </a:xfrm>
        </p:spPr>
        <p:txBody>
          <a:bodyPr>
            <a:noAutofit/>
          </a:bodyPr>
          <a:lstStyle/>
          <a:p>
            <a:r>
              <a:rPr lang="en-US" sz="2200" b="1" dirty="0"/>
              <a:t>Relational: Live, frequently modified data</a:t>
            </a:r>
          </a:p>
          <a:p>
            <a:pPr lvl="1"/>
            <a:r>
              <a:rPr lang="en-US" sz="2000" dirty="0"/>
              <a:t>Generally, we keep all states/actions/</a:t>
            </a:r>
            <a:r>
              <a:rPr lang="en-US" sz="2000" dirty="0" err="1"/>
              <a:t>etc</a:t>
            </a:r>
            <a:r>
              <a:rPr lang="en-US" sz="2000" dirty="0"/>
              <a:t> that have occurred</a:t>
            </a:r>
          </a:p>
          <a:p>
            <a:pPr lvl="1"/>
            <a:r>
              <a:rPr lang="en-US" sz="2000" dirty="0"/>
              <a:t>With at least the data you need to serve users and keep work going</a:t>
            </a:r>
          </a:p>
          <a:p>
            <a:pPr lvl="1"/>
            <a:r>
              <a:rPr lang="en-US" sz="2000" dirty="0"/>
              <a:t>May even be the legal documentation for actions (which can change retention rules)</a:t>
            </a:r>
          </a:p>
          <a:p>
            <a:r>
              <a:rPr lang="en-US" sz="2200" b="1" dirty="0"/>
              <a:t>Dimensional: Typically a set of copies starting with relational (and other data)</a:t>
            </a:r>
          </a:p>
          <a:p>
            <a:pPr lvl="1"/>
            <a:r>
              <a:rPr lang="en-US" sz="2000" dirty="0"/>
              <a:t>Kimball had a </a:t>
            </a:r>
            <a:r>
              <a:rPr lang="en-US" sz="2000" dirty="0">
                <a:hlinkClick r:id="rId2"/>
              </a:rPr>
              <a:t>metaphor of a kitchen</a:t>
            </a:r>
            <a:r>
              <a:rPr lang="en-US" sz="2000" dirty="0"/>
              <a:t> with 3 areas:</a:t>
            </a:r>
          </a:p>
          <a:p>
            <a:pPr lvl="3"/>
            <a:r>
              <a:rPr lang="en-US" sz="2000" b="1" dirty="0"/>
              <a:t>Prep area</a:t>
            </a:r>
            <a:r>
              <a:rPr lang="en-US" sz="2000" dirty="0"/>
              <a:t>: no user access, but all the data you need to serve anyone</a:t>
            </a:r>
          </a:p>
          <a:p>
            <a:pPr lvl="3"/>
            <a:r>
              <a:rPr lang="en-US" sz="2000" b="1" dirty="0"/>
              <a:t>Chef table</a:t>
            </a:r>
            <a:r>
              <a:rPr lang="en-US" sz="2000" dirty="0"/>
              <a:t>: cleaned data, likely formatted. Some users get access, but it is a special, power user access only</a:t>
            </a:r>
          </a:p>
          <a:p>
            <a:pPr lvl="3"/>
            <a:r>
              <a:rPr lang="en-US" sz="2000" b="1" dirty="0"/>
              <a:t>Dining Room</a:t>
            </a:r>
            <a:r>
              <a:rPr lang="en-US" sz="2000" dirty="0"/>
              <a:t>: where data is served to the guests in the way they need it</a:t>
            </a:r>
          </a:p>
          <a:p>
            <a:pPr lvl="1"/>
            <a:r>
              <a:rPr lang="en-US" sz="2000" dirty="0"/>
              <a:t>Fabric has the </a:t>
            </a:r>
            <a:r>
              <a:rPr lang="en-US" sz="2000" dirty="0">
                <a:hlinkClick r:id="rId3"/>
              </a:rPr>
              <a:t>Medallion architecture</a:t>
            </a:r>
            <a:endParaRPr lang="en-US" sz="2000" dirty="0"/>
          </a:p>
          <a:p>
            <a:pPr lvl="1"/>
            <a:r>
              <a:rPr lang="en-US" sz="2000" dirty="0"/>
              <a:t>Biggest thing is you keep copies of ALL the data the user may WANT to access.</a:t>
            </a:r>
          </a:p>
          <a:p>
            <a:pPr lvl="2"/>
            <a:endParaRPr lang="en-US" sz="2000" dirty="0"/>
          </a:p>
        </p:txBody>
      </p:sp>
      <p:pic>
        <p:nvPicPr>
          <p:cNvPr id="7" name="Graphic 6" descr="Disk">
            <a:extLst>
              <a:ext uri="{FF2B5EF4-FFF2-40B4-BE49-F238E27FC236}">
                <a16:creationId xmlns:a16="http://schemas.microsoft.com/office/drawing/2014/main" id="{C5284162-21DB-D473-C7FD-838628FE6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4883" y="727"/>
            <a:ext cx="2869992" cy="286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1D99-815D-525F-B33C-3F27F445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Difference: 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38E6-3139-0CBB-A0D1-84017B72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7654"/>
            <a:ext cx="6454987" cy="4023360"/>
          </a:xfrm>
        </p:spPr>
        <p:txBody>
          <a:bodyPr>
            <a:normAutofit/>
          </a:bodyPr>
          <a:lstStyle/>
          <a:p>
            <a:r>
              <a:rPr lang="en-US" b="1" dirty="0"/>
              <a:t>Relational: </a:t>
            </a:r>
          </a:p>
          <a:p>
            <a:pPr lvl="1"/>
            <a:r>
              <a:rPr lang="en-US" dirty="0"/>
              <a:t>Things that exist</a:t>
            </a:r>
          </a:p>
          <a:p>
            <a:pPr lvl="1"/>
            <a:r>
              <a:rPr lang="en-US" dirty="0"/>
              <a:t>Basically store the memory of a something or some process</a:t>
            </a:r>
          </a:p>
          <a:p>
            <a:pPr lvl="1"/>
            <a:r>
              <a:rPr lang="en-US" dirty="0"/>
              <a:t>Goal is to match the design exactly to the customer’s real world</a:t>
            </a:r>
          </a:p>
          <a:p>
            <a:pPr lvl="1"/>
            <a:r>
              <a:rPr lang="en-US" dirty="0"/>
              <a:t>Can be very complex, if the customer’s needs are complex</a:t>
            </a:r>
          </a:p>
          <a:p>
            <a:pPr lvl="1"/>
            <a:r>
              <a:rPr lang="en-US" dirty="0"/>
              <a:t>Eliminate duplication to enhance integrity</a:t>
            </a:r>
          </a:p>
          <a:p>
            <a:r>
              <a:rPr lang="en-US" b="1" dirty="0"/>
              <a:t>Dimensional</a:t>
            </a:r>
          </a:p>
          <a:p>
            <a:pPr lvl="1"/>
            <a:r>
              <a:rPr lang="en-US" dirty="0"/>
              <a:t>Actions you want to quantify </a:t>
            </a:r>
          </a:p>
          <a:p>
            <a:pPr lvl="1"/>
            <a:r>
              <a:rPr lang="en-US" dirty="0"/>
              <a:t>Goal is to be able to answer the customer’s questions</a:t>
            </a:r>
          </a:p>
          <a:p>
            <a:pPr lvl="1"/>
            <a:r>
              <a:rPr lang="en-US" dirty="0"/>
              <a:t>Tuning your design to their needs is not simple</a:t>
            </a:r>
          </a:p>
          <a:p>
            <a:pPr lvl="1"/>
            <a:r>
              <a:rPr lang="en-US" dirty="0"/>
              <a:t>Allow duplication to enhance usability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77CBA767-A972-56D0-DE99-9B62E7B92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3873-F695-5473-726A-B143E467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04" y="263528"/>
            <a:ext cx="871342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Difference: Model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C6F7-4818-6125-06D0-4A3584EA4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71" y="1821671"/>
            <a:ext cx="9707991" cy="3920577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Relational</a:t>
            </a:r>
            <a:endParaRPr lang="en-US" b="1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Based on Normalized Structures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Eliminates redundancies at all levels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Optimized for adding, modifying, and deleting data </a:t>
            </a:r>
            <a:r>
              <a:rPr lang="en-US" u="sng" dirty="0"/>
              <a:t>consistently</a:t>
            </a:r>
            <a:endParaRPr lang="en-US" u="sng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Tables represent individual concepts (nouns) and relationships between them</a:t>
            </a:r>
            <a:endParaRPr lang="en-US" dirty="0">
              <a:ea typeface="Calibri"/>
              <a:cs typeface="Calibri"/>
            </a:endParaRPr>
          </a:p>
          <a:p>
            <a:pPr marL="90932"/>
            <a:r>
              <a:rPr lang="en-US" b="1" dirty="0"/>
              <a:t>Dimensional Modeling</a:t>
            </a:r>
            <a:endParaRPr lang="en-US" sz="2400" b="1" dirty="0"/>
          </a:p>
          <a:p>
            <a:pPr marL="383540" lvl="1"/>
            <a:r>
              <a:rPr lang="en-US" sz="2000" dirty="0"/>
              <a:t>Star Schema</a:t>
            </a:r>
            <a:endParaRPr lang="en-US" sz="2000" dirty="0">
              <a:ea typeface="Calibri"/>
              <a:cs typeface="Calibri"/>
            </a:endParaRPr>
          </a:p>
          <a:p>
            <a:pPr marL="566420" lvl="2"/>
            <a:r>
              <a:rPr lang="en-US" sz="1600" dirty="0"/>
              <a:t>Fact table: Basically a single answer to one or more core questions about an action (grain)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Measures: Numeric details you can aggregate on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Dimensions: Factors you can group the answers on</a:t>
            </a:r>
            <a:endParaRPr lang="en-US" sz="16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Dimension Tables: Tables for more complex dimensions</a:t>
            </a:r>
            <a:endParaRPr lang="en-US" sz="2000" dirty="0">
              <a:ea typeface="Calibri"/>
              <a:cs typeface="Calibri"/>
            </a:endParaRPr>
          </a:p>
          <a:p>
            <a:pPr marL="566420" lvl="2"/>
            <a:r>
              <a:rPr lang="en-US" sz="1600" dirty="0"/>
              <a:t>Snowflake Schema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Star Schema with some normalization in the dimensions</a:t>
            </a:r>
            <a:endParaRPr lang="en-US" sz="1600" dirty="0">
              <a:ea typeface="Calibri"/>
              <a:cs typeface="Calibri"/>
            </a:endParaRPr>
          </a:p>
          <a:p>
            <a:pPr marL="383540" lvl="1"/>
            <a:endParaRPr lang="en-US" sz="1600" dirty="0">
              <a:ea typeface="Calibri"/>
              <a:cs typeface="Calibri"/>
            </a:endParaRPr>
          </a:p>
          <a:p>
            <a:pPr marL="383540" lvl="1"/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03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99529-8ABE-48FC-35CD-DECAAE80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031" y="1100094"/>
            <a:ext cx="2867795" cy="1476882"/>
          </a:xfrm>
        </p:spPr>
        <p:txBody>
          <a:bodyPr anchor="ctr">
            <a:normAutofit/>
          </a:bodyPr>
          <a:lstStyle/>
          <a:p>
            <a:r>
              <a:rPr lang="en-US" sz="4500" b="1"/>
              <a:t>Warning: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8EF2-224C-EF5A-5D01-E5FDFDF8E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099" y="1933583"/>
            <a:ext cx="6895973" cy="24718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900" dirty="0"/>
              <a:t>The next examples are very simplistic and for a brief description only. Your actual designs will be a lot more complex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Graphic 3" descr="Slippery">
            <a:extLst>
              <a:ext uri="{FF2B5EF4-FFF2-40B4-BE49-F238E27FC236}">
                <a16:creationId xmlns:a16="http://schemas.microsoft.com/office/drawing/2014/main" id="{C634D87F-5DF3-75E9-37D7-EDB48CE37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1166315"/>
            <a:ext cx="3200400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2804B8-6B11-DC90-FA32-C1742140214F}"/>
              </a:ext>
            </a:extLst>
          </p:cNvPr>
          <p:cNvSpPr txBox="1"/>
          <p:nvPr/>
        </p:nvSpPr>
        <p:spPr>
          <a:xfrm>
            <a:off x="4347172" y="4769668"/>
            <a:ext cx="67116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(Or your users will be very frustrated with you!)</a:t>
            </a:r>
          </a:p>
        </p:txBody>
      </p:sp>
    </p:spTree>
    <p:extLst>
      <p:ext uri="{BB962C8B-B14F-4D97-AF65-F5344CB8AC3E}">
        <p14:creationId xmlns:p14="http://schemas.microsoft.com/office/powerpoint/2010/main" val="28020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EF278-62C5-49CA-8BD9-BCDBE997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88E67-37BB-0E51-7C1D-6BEC6C4B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Relational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68C66-2F9A-389F-430E-5959A70E6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31000"/>
                    </a14:imgEffect>
                  </a14:imgLayer>
                </a14:imgProps>
              </a:ext>
            </a:extLst>
          </a:blip>
          <a:srcRect l="5441" r="4594"/>
          <a:stretch/>
        </p:blipFill>
        <p:spPr>
          <a:xfrm>
            <a:off x="4724456" y="77070"/>
            <a:ext cx="7388686" cy="618017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2E2466B-276C-423A-9377-78508D6A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CA4C0-0F9F-0D90-C81F-516CA637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A04B113-9C71-4645-B2B0-6C6E7B17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15AD00-405D-4A85-8201-260CF683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ED07-078C-C65D-E964-4C03D0B6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Dimensional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29C476-8F84-427E-8917-CE08130A0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45C3F-C34A-1619-104B-D65D76B764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73" y="1229710"/>
            <a:ext cx="7313983" cy="43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27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4CCD7-F319-A485-46CC-4A5C9037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A978AA-7672-42C4-B5ED-55539D564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38393-3C03-4A4C-9BEF-927DC2366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92A857-B226-45FB-955B-CBB2C1B53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DD39-A9F0-D0FB-8AE6-5752B19E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2648607"/>
            <a:ext cx="2893907" cy="3451075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Difference: </a:t>
            </a:r>
            <a:r>
              <a:rPr lang="en-US" b="1">
                <a:solidFill>
                  <a:srgbClr val="FFFFFF"/>
                </a:solidFill>
              </a:rPr>
              <a:t>“Usually”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AB63-91E5-D627-4A14-7DFE6660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42" y="258668"/>
            <a:ext cx="6800812" cy="5082806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2500" dirty="0">
                <a:solidFill>
                  <a:srgbClr val="FFFFFF"/>
                </a:solidFill>
              </a:rPr>
              <a:t>"Usually"</a:t>
            </a: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Does not apply: Relational Designs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Does apply: Business Intelligence Designs</a:t>
            </a:r>
            <a:endParaRPr lang="en-US" sz="25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25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500" dirty="0">
                <a:solidFill>
                  <a:srgbClr val="FFFFFF"/>
                </a:solidFill>
              </a:rPr>
              <a:t>Example “Our orders </a:t>
            </a:r>
            <a:r>
              <a:rPr lang="en-US" sz="2500" b="1" i="1" dirty="0">
                <a:solidFill>
                  <a:srgbClr val="FFFFFF"/>
                </a:solidFill>
              </a:rPr>
              <a:t>usually</a:t>
            </a:r>
            <a:r>
              <a:rPr lang="en-US" sz="2500" dirty="0">
                <a:solidFill>
                  <a:srgbClr val="FFFFFF"/>
                </a:solidFill>
              </a:rPr>
              <a:t> only have one item per order”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en-US" sz="2500" dirty="0">
              <a:solidFill>
                <a:srgbClr val="FFFFFF"/>
              </a:solidFill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Relational: 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If it CAN occur, it MUST be in the model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We never model separate structures for the “exceptions”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Dimensional: 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Make sure questions can be answered correctly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Different questions using the same data MAY result in new structures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2" indent="0">
              <a:buNone/>
            </a:pP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6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F4679-96CF-7D21-0F65-77EC7C89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/>
              <a:t>Difference: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F3C57-A4D1-D2A6-AC24-B7637715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68" r="20597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6DAC-F052-F8CB-144C-C0C6A56F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658302" cy="4135402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I don’t like the notion that Dimensional Models are "DENORMALIZED"</a:t>
            </a:r>
          </a:p>
          <a:p>
            <a:r>
              <a:rPr lang="en-US" dirty="0"/>
              <a:t>Both typically do First (and arguably Second) Normal Form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table represents one concept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row represents one unique example of that concept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column represents one aspect about what the row represents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dirty="0"/>
              <a:t>From there, they diverge: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sz="2000" b="1" dirty="0"/>
              <a:t>Relational</a:t>
            </a:r>
            <a:r>
              <a:rPr lang="en-US" sz="2000" dirty="0"/>
              <a:t>: All about breaking things down and avoiding duplication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b="1" dirty="0"/>
              <a:t>Dimensional</a:t>
            </a:r>
            <a:r>
              <a:rPr lang="en-US" sz="2000" dirty="0"/>
              <a:t>: Answering the questions easily and quickly is what matters. Controlled duplication is acceptable, even desirable.</a:t>
            </a:r>
            <a:endParaRPr lang="en-US" sz="2000" dirty="0"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6E2D-A696-9FD5-54C8-19A9EB32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3ACC-65E0-0521-C167-2533A106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8" y="1144577"/>
            <a:ext cx="325558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My Biggest Mistake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85DE1-074B-DD1B-1BE8-DE6213201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99" r="2" b="5068"/>
          <a:stretch/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6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018BC-F0EA-4895-B18C-FE08F3CA6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A0018-C4EF-461D-9DE6-9192642C9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C1BFE-400F-0637-57EE-0D6B9C26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 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C4DCA-385E-4F8B-8F52-F574431CA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780B9B-2E8D-AE49-6042-482700874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7261"/>
              </p:ext>
            </p:extLst>
          </p:nvPr>
        </p:nvGraphicFramePr>
        <p:xfrm>
          <a:off x="624511" y="208505"/>
          <a:ext cx="10900477" cy="4470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414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EDDF-4B00-455A-BEAE-D773FB14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That’s it, time to wake up..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F7AF-92BC-8C6A-F1D7-9AF945F8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74" y="1852448"/>
            <a:ext cx="8036396" cy="43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01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 Contact info..</a:t>
            </a:r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174531" y="1771651"/>
            <a:ext cx="9645870" cy="4525963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Louis Davidson – </a:t>
            </a:r>
            <a:r>
              <a:rPr lang="en-US" b="1" dirty="0">
                <a:hlinkClick r:id="rId3"/>
              </a:rPr>
              <a:t>louis@drsql.org</a:t>
            </a:r>
            <a:r>
              <a:rPr lang="en-US" b="1" dirty="0"/>
              <a:t>	</a:t>
            </a:r>
          </a:p>
          <a:p>
            <a:r>
              <a:rPr lang="en-US" b="1" dirty="0"/>
              <a:t>Website – </a:t>
            </a:r>
            <a:r>
              <a:rPr lang="en-US" b="1" dirty="0">
                <a:hlinkClick r:id="rId4"/>
              </a:rPr>
              <a:t>http://drsql.link</a:t>
            </a:r>
            <a:r>
              <a:rPr lang="en-US" b="1" dirty="0"/>
              <a:t> </a:t>
            </a:r>
          </a:p>
          <a:p>
            <a:pPr lvl="1"/>
            <a:r>
              <a:rPr lang="en-US" b="1" dirty="0">
                <a:sym typeface="Wingdings" pitchFamily="2" charset="2"/>
              </a:rPr>
              <a:t>Get slides here: </a:t>
            </a:r>
            <a:r>
              <a:rPr lang="en-US" b="1" dirty="0">
                <a:sym typeface="Wingdings" pitchFamily="2" charset="2"/>
                <a:hlinkClick r:id="rId5"/>
              </a:rPr>
              <a:t>https://drsql.link/presentations</a:t>
            </a:r>
            <a:r>
              <a:rPr lang="en-US" b="1" dirty="0">
                <a:sym typeface="Wingdings" pitchFamily="2" charset="2"/>
              </a:rPr>
              <a:t> </a:t>
            </a:r>
            <a:endParaRPr lang="en-US" b="1" dirty="0"/>
          </a:p>
          <a:p>
            <a:r>
              <a:rPr lang="en-US" b="1" dirty="0"/>
              <a:t>Blog – </a:t>
            </a:r>
            <a:r>
              <a:rPr lang="en-US" b="1" dirty="0">
                <a:hlinkClick r:id="rId6"/>
              </a:rPr>
              <a:t>https://drsql.link</a:t>
            </a:r>
            <a:r>
              <a:rPr lang="en-US" b="1" dirty="0"/>
              <a:t> </a:t>
            </a:r>
          </a:p>
          <a:p>
            <a:r>
              <a:rPr lang="en-US" b="1" dirty="0"/>
              <a:t>LinkedIn – </a:t>
            </a:r>
            <a:r>
              <a:rPr lang="en-US" b="1" dirty="0">
                <a:hlinkClick r:id="rId7"/>
              </a:rPr>
              <a:t>https://linkedin.com/in/louisdavidson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345684C-D765-F131-BE55-86B5B95E0875}"/>
              </a:ext>
            </a:extLst>
          </p:cNvPr>
          <p:cNvSpPr/>
          <p:nvPr/>
        </p:nvSpPr>
        <p:spPr>
          <a:xfrm>
            <a:off x="7260772" y="3729531"/>
            <a:ext cx="91440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enerated QR Image">
            <a:extLst>
              <a:ext uri="{FF2B5EF4-FFF2-40B4-BE49-F238E27FC236}">
                <a16:creationId xmlns:a16="http://schemas.microsoft.com/office/drawing/2014/main" id="{78CAD375-C7B1-E8DA-A791-3BD8A8AB2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975" y="2396491"/>
            <a:ext cx="27241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99" y="2863264"/>
            <a:ext cx="10239703" cy="1470025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89838-DAD4-7A9C-52CC-8E732A3123F7}"/>
              </a:ext>
            </a:extLst>
          </p:cNvPr>
          <p:cNvSpPr txBox="1"/>
          <p:nvPr/>
        </p:nvSpPr>
        <p:spPr>
          <a:xfrm>
            <a:off x="8035159" y="4473667"/>
            <a:ext cx="444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itchFamily="2" charset="2"/>
                <a:hlinkClick r:id="rId2"/>
              </a:rPr>
              <a:t>https://drsql.link/presentations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  <p:pic>
        <p:nvPicPr>
          <p:cNvPr id="2050" name="Picture 2" descr="Generated QR Image">
            <a:extLst>
              <a:ext uri="{FF2B5EF4-FFF2-40B4-BE49-F238E27FC236}">
                <a16:creationId xmlns:a16="http://schemas.microsoft.com/office/drawing/2014/main" id="{E68676A4-094A-4D83-CB1F-6970C964A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257" y="1511904"/>
            <a:ext cx="2702719" cy="270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1440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1505</Words>
  <Application>Microsoft Office PowerPoint</Application>
  <PresentationFormat>Widescreen</PresentationFormat>
  <Paragraphs>200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Calibri Light</vt:lpstr>
      <vt:lpstr>Wingdings</vt:lpstr>
      <vt:lpstr>Retrospect</vt:lpstr>
      <vt:lpstr>Office Theme</vt:lpstr>
      <vt:lpstr>Dimensional and Relational Design</vt:lpstr>
      <vt:lpstr>PowerPoint Presentation</vt:lpstr>
      <vt:lpstr>PowerPoint Presentation</vt:lpstr>
      <vt:lpstr>PowerPoint Presentation</vt:lpstr>
      <vt:lpstr>PowerPoint Presentation</vt:lpstr>
      <vt:lpstr>Bit of a warning…</vt:lpstr>
      <vt:lpstr>And now… on with the show!</vt:lpstr>
      <vt:lpstr>Who Am I?</vt:lpstr>
      <vt:lpstr>My background</vt:lpstr>
      <vt:lpstr>PowerPoint Presentation</vt:lpstr>
      <vt:lpstr>My non-tech hobby</vt:lpstr>
      <vt:lpstr>My professional background</vt:lpstr>
      <vt:lpstr>Why do we build databases to start with?</vt:lpstr>
      <vt:lpstr>Similarities Between Dimensional and Relational</vt:lpstr>
      <vt:lpstr>Difference: Purpose</vt:lpstr>
      <vt:lpstr>Difference: The Data Lifecycle</vt:lpstr>
      <vt:lpstr>Difference: Modeling approach</vt:lpstr>
      <vt:lpstr>Difference: Model Structures</vt:lpstr>
      <vt:lpstr>Warning:</vt:lpstr>
      <vt:lpstr>Model Example Relational</vt:lpstr>
      <vt:lpstr>Model Example Dimensional</vt:lpstr>
      <vt:lpstr>Difference: “Usually”</vt:lpstr>
      <vt:lpstr>Difference: Normalization</vt:lpstr>
      <vt:lpstr>My Biggest Mistake</vt:lpstr>
      <vt:lpstr>In conclusion</vt:lpstr>
      <vt:lpstr>That’s it, time to wake up..</vt:lpstr>
      <vt:lpstr>Questions? Contact info..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versus Relational Design</dc:title>
  <dc:creator>Louis Davidson</dc:creator>
  <cp:lastModifiedBy>Davidson, Louis</cp:lastModifiedBy>
  <cp:revision>41</cp:revision>
  <dcterms:created xsi:type="dcterms:W3CDTF">2025-02-08T22:44:31Z</dcterms:created>
  <dcterms:modified xsi:type="dcterms:W3CDTF">2026-03-21T02:36:21Z</dcterms:modified>
</cp:coreProperties>
</file>